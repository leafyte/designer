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png"/><Relationship Id="rId4" Type="http://schemas.openxmlformats.org/officeDocument/2006/relationships/image" Target="../media/image4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3"/>
          <p:cNvSpPr/>
          <p:nvPr/>
        </p:nvSpPr>
        <p:spPr>
          <a:xfrm>
            <a:off x="-2663034" y="6195861"/>
            <a:ext cx="6914094" cy="502843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4"/>
          <p:cNvSpPr/>
          <p:nvPr/>
        </p:nvSpPr>
        <p:spPr>
          <a:xfrm>
            <a:off x="3286395" y="3204703"/>
            <a:ext cx="11715210" cy="323478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Box 5"/>
          <p:cNvSpPr txBox="1"/>
          <p:nvPr/>
        </p:nvSpPr>
        <p:spPr>
          <a:xfrm>
            <a:off x="2325765" y="3551859"/>
            <a:ext cx="13636470" cy="98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100"/>
              </a:lnSpc>
              <a:defRPr sz="74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Drowsiness Detection System</a:t>
            </a:r>
          </a:p>
        </p:txBody>
      </p:sp>
      <p:sp>
        <p:nvSpPr>
          <p:cNvPr id="98" name="Freeform 6"/>
          <p:cNvSpPr/>
          <p:nvPr/>
        </p:nvSpPr>
        <p:spPr>
          <a:xfrm>
            <a:off x="12456379" y="5404911"/>
            <a:ext cx="8246934" cy="624767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Freeform 7"/>
          <p:cNvSpPr/>
          <p:nvPr/>
        </p:nvSpPr>
        <p:spPr>
          <a:xfrm>
            <a:off x="15308980" y="-1652824"/>
            <a:ext cx="8905030" cy="557506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Freeform 8"/>
          <p:cNvSpPr/>
          <p:nvPr/>
        </p:nvSpPr>
        <p:spPr>
          <a:xfrm rot="18104154">
            <a:off x="-3929801" y="-2685694"/>
            <a:ext cx="5243740" cy="733856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Box 9"/>
          <p:cNvSpPr txBox="1"/>
          <p:nvPr/>
        </p:nvSpPr>
        <p:spPr>
          <a:xfrm>
            <a:off x="3658402" y="4510000"/>
            <a:ext cx="10971195" cy="624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800"/>
              </a:lnSpc>
              <a:defRPr sz="38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Applying Computational Geometry to Road Safety</a:t>
            </a:r>
          </a:p>
        </p:txBody>
      </p:sp>
      <p:sp>
        <p:nvSpPr>
          <p:cNvPr id="102" name="TextBox 10"/>
          <p:cNvSpPr txBox="1"/>
          <p:nvPr/>
        </p:nvSpPr>
        <p:spPr>
          <a:xfrm>
            <a:off x="5586190" y="5329633"/>
            <a:ext cx="6639490" cy="57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400"/>
              </a:lnSpc>
              <a:defRPr sz="36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Presented by: Debugleaf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Freeform 4"/>
          <p:cNvSpPr/>
          <p:nvPr/>
        </p:nvSpPr>
        <p:spPr>
          <a:xfrm>
            <a:off x="441237" y="406431"/>
            <a:ext cx="17405526" cy="9474138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Freeform 6"/>
          <p:cNvSpPr/>
          <p:nvPr/>
        </p:nvSpPr>
        <p:spPr>
          <a:xfrm flipH="1">
            <a:off x="12219352" y="5832573"/>
            <a:ext cx="5565196" cy="404741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Freeform 9"/>
          <p:cNvSpPr/>
          <p:nvPr/>
        </p:nvSpPr>
        <p:spPr>
          <a:xfrm flipH="1">
            <a:off x="750582" y="6197796"/>
            <a:ext cx="3190322" cy="331697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Group 6"/>
          <p:cNvSpPr/>
          <p:nvPr/>
        </p:nvSpPr>
        <p:spPr>
          <a:xfrm>
            <a:off x="550593" y="1216962"/>
            <a:ext cx="2551534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09" name="Freeform 7"/>
          <p:cNvSpPr/>
          <p:nvPr/>
        </p:nvSpPr>
        <p:spPr>
          <a:xfrm>
            <a:off x="5927977" y="3522181"/>
            <a:ext cx="2551533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10" name="Freeform 7"/>
          <p:cNvSpPr/>
          <p:nvPr/>
        </p:nvSpPr>
        <p:spPr>
          <a:xfrm>
            <a:off x="4049524" y="6110458"/>
            <a:ext cx="2714915" cy="2786707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11" name="Freeform 7"/>
          <p:cNvSpPr/>
          <p:nvPr/>
        </p:nvSpPr>
        <p:spPr>
          <a:xfrm>
            <a:off x="7868233" y="6076781"/>
            <a:ext cx="2551534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12" name="Freeform 7"/>
          <p:cNvSpPr/>
          <p:nvPr/>
        </p:nvSpPr>
        <p:spPr>
          <a:xfrm>
            <a:off x="12080565" y="2431137"/>
            <a:ext cx="2714916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13" name="TABLE OF CONTENTS"/>
          <p:cNvSpPr txBox="1"/>
          <p:nvPr/>
        </p:nvSpPr>
        <p:spPr>
          <a:xfrm>
            <a:off x="5512361" y="671795"/>
            <a:ext cx="7669673" cy="96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5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TABLE OF CONTENTS</a:t>
            </a:r>
          </a:p>
        </p:txBody>
      </p:sp>
      <p:sp>
        <p:nvSpPr>
          <p:cNvPr id="114" name="Problem…"/>
          <p:cNvSpPr txBox="1"/>
          <p:nvPr/>
        </p:nvSpPr>
        <p:spPr>
          <a:xfrm>
            <a:off x="900937" y="2008785"/>
            <a:ext cx="1850847" cy="102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000">
                <a:latin typeface="Chalkboard"/>
                <a:ea typeface="Chalkboard"/>
                <a:cs typeface="Chalkboard"/>
                <a:sym typeface="Chalkboard"/>
              </a:defRPr>
            </a:pPr>
            <a:r>
              <a:t>Problem </a:t>
            </a:r>
          </a:p>
          <a:p>
            <a:pPr>
              <a:defRPr sz="3000">
                <a:latin typeface="Chalkboard"/>
                <a:ea typeface="Chalkboard"/>
                <a:cs typeface="Chalkboard"/>
                <a:sym typeface="Chalkboard"/>
              </a:defRPr>
            </a:pPr>
            <a:r>
              <a:t>Statement</a:t>
            </a:r>
          </a:p>
        </p:txBody>
      </p:sp>
      <p:sp>
        <p:nvSpPr>
          <p:cNvPr id="115" name="Mathematical…"/>
          <p:cNvSpPr txBox="1"/>
          <p:nvPr/>
        </p:nvSpPr>
        <p:spPr>
          <a:xfrm>
            <a:off x="4170249" y="6952786"/>
            <a:ext cx="2542541" cy="11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latin typeface="Chalkboard"/>
                <a:ea typeface="Chalkboard"/>
                <a:cs typeface="Chalkboard"/>
                <a:sym typeface="Chalkboard"/>
              </a:defRPr>
            </a:pPr>
            <a:r>
              <a:t>Mathematical</a:t>
            </a:r>
          </a:p>
          <a:p>
            <a:pPr>
              <a:defRPr sz="3200">
                <a:latin typeface="Chalkboard"/>
                <a:ea typeface="Chalkboard"/>
                <a:cs typeface="Chalkboard"/>
                <a:sym typeface="Chalkboard"/>
              </a:defRPr>
            </a:pPr>
            <a:r>
              <a:t>Foundation</a:t>
            </a:r>
          </a:p>
        </p:txBody>
      </p:sp>
      <p:sp>
        <p:nvSpPr>
          <p:cNvPr id="116" name="EAR &amp; MAR"/>
          <p:cNvSpPr txBox="1"/>
          <p:nvPr/>
        </p:nvSpPr>
        <p:spPr>
          <a:xfrm>
            <a:off x="5989008" y="4188637"/>
            <a:ext cx="2498547" cy="958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7300"/>
              </a:lnSpc>
              <a:defRPr sz="35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EAR &amp; MAR</a:t>
            </a:r>
          </a:p>
        </p:txBody>
      </p:sp>
      <p:sp>
        <p:nvSpPr>
          <p:cNvPr id="117" name="How EAR…"/>
          <p:cNvSpPr txBox="1"/>
          <p:nvPr/>
        </p:nvSpPr>
        <p:spPr>
          <a:xfrm>
            <a:off x="8311548" y="6830672"/>
            <a:ext cx="1906671" cy="11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latin typeface="Chalkboard"/>
                <a:ea typeface="Chalkboard"/>
                <a:cs typeface="Chalkboard"/>
                <a:sym typeface="Chalkboard"/>
              </a:defRPr>
            </a:pPr>
            <a:r>
              <a:t>How EAR </a:t>
            </a:r>
          </a:p>
          <a:p>
            <a:pPr>
              <a:defRPr sz="3200">
                <a:latin typeface="Chalkboard"/>
                <a:ea typeface="Chalkboard"/>
                <a:cs typeface="Chalkboard"/>
                <a:sym typeface="Chalkboard"/>
              </a:defRPr>
            </a:pPr>
            <a:r>
              <a:t>works?</a:t>
            </a:r>
          </a:p>
        </p:txBody>
      </p:sp>
      <p:sp>
        <p:nvSpPr>
          <p:cNvPr id="118" name="Freeform 7"/>
          <p:cNvSpPr/>
          <p:nvPr/>
        </p:nvSpPr>
        <p:spPr>
          <a:xfrm>
            <a:off x="10246845" y="4596673"/>
            <a:ext cx="2551534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19" name="Freeform 7"/>
          <p:cNvSpPr/>
          <p:nvPr/>
        </p:nvSpPr>
        <p:spPr>
          <a:xfrm>
            <a:off x="15088315" y="2150574"/>
            <a:ext cx="2551534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20" name="Flow"/>
          <p:cNvSpPr txBox="1"/>
          <p:nvPr/>
        </p:nvSpPr>
        <p:spPr>
          <a:xfrm>
            <a:off x="10782777" y="5434798"/>
            <a:ext cx="1446622" cy="946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3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Flow</a:t>
            </a:r>
          </a:p>
        </p:txBody>
      </p:sp>
      <p:sp>
        <p:nvSpPr>
          <p:cNvPr id="121" name="Improvements &amp;…"/>
          <p:cNvSpPr txBox="1"/>
          <p:nvPr/>
        </p:nvSpPr>
        <p:spPr>
          <a:xfrm>
            <a:off x="12011294" y="3274280"/>
            <a:ext cx="2853459" cy="9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ts val="3200"/>
              </a:lnSpc>
              <a:defRPr sz="28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Improvements &amp; </a:t>
            </a:r>
          </a:p>
          <a:p>
            <a:pPr algn="ctr">
              <a:lnSpc>
                <a:spcPts val="3200"/>
              </a:lnSpc>
              <a:defRPr sz="28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Future Work </a:t>
            </a:r>
          </a:p>
        </p:txBody>
      </p:sp>
      <p:sp>
        <p:nvSpPr>
          <p:cNvPr id="122" name="Conclusions"/>
          <p:cNvSpPr txBox="1"/>
          <p:nvPr/>
        </p:nvSpPr>
        <p:spPr>
          <a:xfrm>
            <a:off x="15191430" y="2653657"/>
            <a:ext cx="2345305" cy="111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8800"/>
              </a:lnSpc>
              <a:defRPr sz="35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Conclusions</a:t>
            </a:r>
          </a:p>
        </p:txBody>
      </p:sp>
      <p:cxnSp>
        <p:nvCxnSpPr>
          <p:cNvPr id="123" name="Connection Line"/>
          <p:cNvCxnSpPr>
            <a:stCxn id="108" idx="0"/>
            <a:endCxn id="110" idx="0"/>
          </p:cNvCxnSpPr>
          <p:nvPr/>
        </p:nvCxnSpPr>
        <p:spPr>
          <a:xfrm>
            <a:off x="1826360" y="2521879"/>
            <a:ext cx="3580622" cy="4981933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24" name="Freeform 7"/>
          <p:cNvSpPr/>
          <p:nvPr/>
        </p:nvSpPr>
        <p:spPr>
          <a:xfrm>
            <a:off x="1912842" y="3838583"/>
            <a:ext cx="2551533" cy="2609834"/>
          </a:xfrm>
          <a:prstGeom prst="ellipse">
            <a:avLst/>
          </a:pr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25" name="Proposed…"/>
          <p:cNvSpPr txBox="1"/>
          <p:nvPr/>
        </p:nvSpPr>
        <p:spPr>
          <a:xfrm>
            <a:off x="2318342" y="4615432"/>
            <a:ext cx="1740533" cy="1000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900">
                <a:latin typeface="Chalkboard"/>
                <a:ea typeface="Chalkboard"/>
                <a:cs typeface="Chalkboard"/>
                <a:sym typeface="Chalkboard"/>
              </a:defRPr>
            </a:pPr>
            <a:r>
              <a:t>Proposed </a:t>
            </a:r>
          </a:p>
          <a:p>
            <a:pPr>
              <a:defRPr sz="2900">
                <a:latin typeface="Chalkboard"/>
                <a:ea typeface="Chalkboard"/>
                <a:cs typeface="Chalkboard"/>
                <a:sym typeface="Chalkboard"/>
              </a:defRPr>
            </a:pPr>
            <a:r>
              <a:t>Solution</a:t>
            </a:r>
          </a:p>
        </p:txBody>
      </p:sp>
      <p:cxnSp>
        <p:nvCxnSpPr>
          <p:cNvPr id="126" name="Connection Line"/>
          <p:cNvCxnSpPr>
            <a:stCxn id="110" idx="0"/>
            <a:endCxn id="109" idx="0"/>
          </p:cNvCxnSpPr>
          <p:nvPr/>
        </p:nvCxnSpPr>
        <p:spPr>
          <a:xfrm flipV="1">
            <a:off x="5406981" y="4827097"/>
            <a:ext cx="1796763" cy="2676715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27" name="Connection Line"/>
          <p:cNvCxnSpPr>
            <a:stCxn id="109" idx="0"/>
            <a:endCxn id="111" idx="0"/>
          </p:cNvCxnSpPr>
          <p:nvPr/>
        </p:nvCxnSpPr>
        <p:spPr>
          <a:xfrm>
            <a:off x="7203743" y="4827097"/>
            <a:ext cx="1940258" cy="2554601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28" name="Connection Line"/>
          <p:cNvCxnSpPr>
            <a:stCxn id="111" idx="0"/>
            <a:endCxn id="118" idx="0"/>
          </p:cNvCxnSpPr>
          <p:nvPr/>
        </p:nvCxnSpPr>
        <p:spPr>
          <a:xfrm flipV="1">
            <a:off x="9144000" y="5901590"/>
            <a:ext cx="2378612" cy="1480108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29" name="Connection Line"/>
          <p:cNvCxnSpPr>
            <a:stCxn id="118" idx="0"/>
            <a:endCxn id="112" idx="0"/>
          </p:cNvCxnSpPr>
          <p:nvPr/>
        </p:nvCxnSpPr>
        <p:spPr>
          <a:xfrm flipV="1">
            <a:off x="11522611" y="3736054"/>
            <a:ext cx="1915413" cy="2165537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30" name="Connection Line"/>
          <p:cNvCxnSpPr>
            <a:stCxn id="119" idx="0"/>
            <a:endCxn id="112" idx="0"/>
          </p:cNvCxnSpPr>
          <p:nvPr/>
        </p:nvCxnSpPr>
        <p:spPr>
          <a:xfrm flipH="1">
            <a:off x="13438023" y="3455491"/>
            <a:ext cx="2926060" cy="280564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Freeform 4"/>
          <p:cNvSpPr/>
          <p:nvPr/>
        </p:nvSpPr>
        <p:spPr>
          <a:xfrm>
            <a:off x="3037330" y="2030095"/>
            <a:ext cx="13293260" cy="6791564"/>
          </a:xfrm>
          <a:prstGeom prst="rect">
            <a:avLst/>
          </a:prstGeom>
          <a:solidFill>
            <a:srgbClr val="000000">
              <a:alpha val="31765"/>
            </a:srgbClr>
          </a:solidFill>
          <a:ln w="38100" cap="sq">
            <a:solidFill>
              <a:srgbClr val="000000">
                <a:alpha val="3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Freeform 7"/>
          <p:cNvSpPr/>
          <p:nvPr/>
        </p:nvSpPr>
        <p:spPr>
          <a:xfrm>
            <a:off x="1261473" y="784444"/>
            <a:ext cx="15619659" cy="8473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" y="0"/>
                </a:moveTo>
                <a:lnTo>
                  <a:pt x="21571" y="0"/>
                </a:lnTo>
                <a:cubicBezTo>
                  <a:pt x="21587" y="0"/>
                  <a:pt x="21600" y="24"/>
                  <a:pt x="21600" y="53"/>
                </a:cubicBezTo>
                <a:lnTo>
                  <a:pt x="21600" y="21547"/>
                </a:lnTo>
                <a:cubicBezTo>
                  <a:pt x="21600" y="21576"/>
                  <a:pt x="21587" y="21600"/>
                  <a:pt x="21571" y="21600"/>
                </a:cubicBezTo>
                <a:lnTo>
                  <a:pt x="29" y="21600"/>
                </a:lnTo>
                <a:cubicBezTo>
                  <a:pt x="13" y="21600"/>
                  <a:pt x="0" y="21576"/>
                  <a:pt x="0" y="21547"/>
                </a:cubicBezTo>
                <a:lnTo>
                  <a:pt x="0" y="53"/>
                </a:lnTo>
                <a:cubicBezTo>
                  <a:pt x="0" y="24"/>
                  <a:pt x="13" y="0"/>
                  <a:pt x="29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Box 10"/>
          <p:cNvSpPr txBox="1"/>
          <p:nvPr/>
        </p:nvSpPr>
        <p:spPr>
          <a:xfrm>
            <a:off x="1406680" y="1922866"/>
            <a:ext cx="13557065" cy="751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535834" indent="-267917">
              <a:buSzPct val="100000"/>
              <a:buFont typeface="Arial"/>
              <a:buChar char="•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Road accidents cause 1.35 million deaths annually worldwide</a:t>
            </a:r>
          </a:p>
          <a:p>
            <a:pPr lvl="1" marL="535834" indent="-267917">
              <a:buSzPct val="100000"/>
              <a:buFont typeface="Arial"/>
              <a:buChar char="•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Around 20% of accidents are linked to driver drowsiness</a:t>
            </a:r>
          </a:p>
          <a:p>
            <a:pPr lvl="1" marL="535834" indent="-267917">
              <a:buSzPct val="100000"/>
              <a:buFont typeface="Arial"/>
              <a:buChar char="•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Common during transport of goods via large trucks and vehicles </a:t>
            </a:r>
          </a:p>
          <a:p>
            <a:pPr lvl="1" marL="535834" indent="-267917">
              <a:buSzPct val="100000"/>
              <a:buFont typeface="Arial"/>
              <a:buChar char="•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Drowsy driving reduces: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Reaction time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Attention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Decision-making ability</a:t>
            </a:r>
          </a:p>
          <a:p>
            <a:pPr lvl="1" marL="535834" indent="-267917">
              <a:buSzPct val="100000"/>
              <a:buFont typeface="Arial"/>
              <a:buChar char="•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Existing solutions are: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Expensive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Intrusive (wearables, sensors)</a:t>
            </a:r>
          </a:p>
          <a:p>
            <a:pPr lvl="2" marL="1071668" indent="-357223">
              <a:buSzPct val="100000"/>
              <a:buFont typeface="Arial"/>
              <a:buChar char="⚬"/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Not scalable</a:t>
            </a:r>
          </a:p>
          <a:p>
            <a:pPr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Problem:</a:t>
            </a:r>
          </a:p>
          <a:p>
            <a:pPr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How can drowsiness be detected accurately, non-intrusively,</a:t>
            </a:r>
          </a:p>
          <a:p>
            <a:pPr>
              <a:defRPr sz="3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and in real time?</a:t>
            </a:r>
          </a:p>
        </p:txBody>
      </p:sp>
      <p:sp>
        <p:nvSpPr>
          <p:cNvPr id="136" name="TextBox 11"/>
          <p:cNvSpPr txBox="1"/>
          <p:nvPr/>
        </p:nvSpPr>
        <p:spPr>
          <a:xfrm>
            <a:off x="3350918" y="1147526"/>
            <a:ext cx="10692121" cy="594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b="1" sz="44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PROBLEM STATEMENT </a:t>
            </a:r>
          </a:p>
        </p:txBody>
      </p:sp>
      <p:grpSp>
        <p:nvGrpSpPr>
          <p:cNvPr id="139" name="pasted-movie.png"/>
          <p:cNvGrpSpPr/>
          <p:nvPr/>
        </p:nvGrpSpPr>
        <p:grpSpPr>
          <a:xfrm>
            <a:off x="8790444" y="3497421"/>
            <a:ext cx="7444777" cy="3615144"/>
            <a:chOff x="0" y="0"/>
            <a:chExt cx="7444776" cy="3615142"/>
          </a:xfrm>
        </p:grpSpPr>
        <p:pic>
          <p:nvPicPr>
            <p:cNvPr id="138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03200" y="203200"/>
              <a:ext cx="7038377" cy="317064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37" name="pasted-movie.png" descr="pasted-movie.png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7444777" cy="3615143"/>
            </a:xfrm>
            <a:prstGeom prst="rect">
              <a:avLst/>
            </a:prstGeom>
            <a:effectLst/>
          </p:spPr>
        </p:pic>
      </p:grpSp>
      <p:sp>
        <p:nvSpPr>
          <p:cNvPr id="140" name="Freeform 9"/>
          <p:cNvSpPr/>
          <p:nvPr/>
        </p:nvSpPr>
        <p:spPr>
          <a:xfrm>
            <a:off x="12469465" y="5905715"/>
            <a:ext cx="6921796" cy="411480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Freeform 4"/>
          <p:cNvSpPr/>
          <p:nvPr/>
        </p:nvSpPr>
        <p:spPr>
          <a:xfrm>
            <a:off x="1735757" y="837530"/>
            <a:ext cx="14154505" cy="8229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" y="0"/>
                </a:moveTo>
                <a:lnTo>
                  <a:pt x="21565" y="0"/>
                </a:lnTo>
                <a:cubicBezTo>
                  <a:pt x="21584" y="0"/>
                  <a:pt x="21600" y="27"/>
                  <a:pt x="21600" y="60"/>
                </a:cubicBezTo>
                <a:lnTo>
                  <a:pt x="21600" y="21540"/>
                </a:lnTo>
                <a:cubicBezTo>
                  <a:pt x="21600" y="21573"/>
                  <a:pt x="21584" y="21600"/>
                  <a:pt x="21565" y="21600"/>
                </a:cubicBezTo>
                <a:lnTo>
                  <a:pt x="35" y="21600"/>
                </a:lnTo>
                <a:cubicBezTo>
                  <a:pt x="16" y="21600"/>
                  <a:pt x="0" y="21573"/>
                  <a:pt x="0" y="21540"/>
                </a:cubicBezTo>
                <a:lnTo>
                  <a:pt x="0" y="60"/>
                </a:lnTo>
                <a:cubicBezTo>
                  <a:pt x="0" y="27"/>
                  <a:pt x="16" y="0"/>
                  <a:pt x="3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6" name="Group 6"/>
          <p:cNvGrpSpPr/>
          <p:nvPr/>
        </p:nvGrpSpPr>
        <p:grpSpPr>
          <a:xfrm>
            <a:off x="2381120" y="4143000"/>
            <a:ext cx="3215720" cy="1855659"/>
            <a:chOff x="0" y="0"/>
            <a:chExt cx="3215719" cy="1855658"/>
          </a:xfrm>
        </p:grpSpPr>
        <p:sp>
          <p:nvSpPr>
            <p:cNvPr id="144" name="Freeform 7"/>
            <p:cNvSpPr/>
            <p:nvPr/>
          </p:nvSpPr>
          <p:spPr>
            <a:xfrm>
              <a:off x="0" y="0"/>
              <a:ext cx="3215720" cy="1855659"/>
            </a:xfrm>
            <a:prstGeom prst="ellipse">
              <a:avLst/>
            </a:pr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TextBox 8"/>
            <p:cNvSpPr txBox="1"/>
            <p:nvPr/>
          </p:nvSpPr>
          <p:spPr>
            <a:xfrm>
              <a:off x="301473" y="408406"/>
              <a:ext cx="2612772" cy="930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200"/>
                </a:lnSpc>
                <a:defRPr b="1" sz="2700">
                  <a:latin typeface="Chalkboard"/>
                  <a:ea typeface="Chalkboard"/>
                  <a:cs typeface="Chalkboard"/>
                  <a:sym typeface="Chalkboard"/>
                </a:defRPr>
              </a:lvl1pPr>
            </a:lstStyle>
            <a:p>
              <a:pPr/>
              <a:r>
                <a:t>MATHEMATICS USED</a:t>
              </a:r>
            </a:p>
          </p:txBody>
        </p:sp>
      </p:grpSp>
      <p:sp>
        <p:nvSpPr>
          <p:cNvPr id="147" name="Freeform 9"/>
          <p:cNvSpPr/>
          <p:nvPr/>
        </p:nvSpPr>
        <p:spPr>
          <a:xfrm>
            <a:off x="2294993" y="1094335"/>
            <a:ext cx="1142393" cy="111331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Freeform 10"/>
          <p:cNvSpPr/>
          <p:nvPr/>
        </p:nvSpPr>
        <p:spPr>
          <a:xfrm>
            <a:off x="276158" y="6894969"/>
            <a:ext cx="3835026" cy="309190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1" name="Group 11"/>
          <p:cNvGrpSpPr/>
          <p:nvPr/>
        </p:nvGrpSpPr>
        <p:grpSpPr>
          <a:xfrm>
            <a:off x="7889022" y="4000856"/>
            <a:ext cx="2509958" cy="1855659"/>
            <a:chOff x="0" y="0"/>
            <a:chExt cx="2509957" cy="1855658"/>
          </a:xfrm>
        </p:grpSpPr>
        <p:sp>
          <p:nvSpPr>
            <p:cNvPr id="149" name="Freeform 12"/>
            <p:cNvSpPr/>
            <p:nvPr/>
          </p:nvSpPr>
          <p:spPr>
            <a:xfrm>
              <a:off x="0" y="0"/>
              <a:ext cx="2509958" cy="1855659"/>
            </a:xfrm>
            <a:prstGeom prst="ellipse">
              <a:avLst/>
            </a:pr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TextBox 13"/>
            <p:cNvSpPr txBox="1"/>
            <p:nvPr/>
          </p:nvSpPr>
          <p:spPr>
            <a:xfrm>
              <a:off x="235308" y="411998"/>
              <a:ext cx="2039340" cy="922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200"/>
                </a:lnSpc>
                <a:defRPr b="1" sz="2500">
                  <a:latin typeface="Chalkboard"/>
                  <a:ea typeface="Chalkboard"/>
                  <a:cs typeface="Chalkboard"/>
                  <a:sym typeface="Chalkboard"/>
                </a:defRPr>
              </a:lvl1pPr>
            </a:lstStyle>
            <a:p>
              <a:pPr/>
              <a:r>
                <a:t>EUCLIDEAN DISTANCE</a:t>
              </a:r>
            </a:p>
          </p:txBody>
        </p:sp>
      </p:grpSp>
      <p:grpSp>
        <p:nvGrpSpPr>
          <p:cNvPr id="154" name="Group 14"/>
          <p:cNvGrpSpPr/>
          <p:nvPr/>
        </p:nvGrpSpPr>
        <p:grpSpPr>
          <a:xfrm>
            <a:off x="5701722" y="6289645"/>
            <a:ext cx="5997644" cy="2193611"/>
            <a:chOff x="0" y="0"/>
            <a:chExt cx="5997643" cy="2193610"/>
          </a:xfrm>
        </p:grpSpPr>
        <p:sp>
          <p:nvSpPr>
            <p:cNvPr id="152" name="Freeform 15"/>
            <p:cNvSpPr/>
            <p:nvPr/>
          </p:nvSpPr>
          <p:spPr>
            <a:xfrm>
              <a:off x="-1" y="-1"/>
              <a:ext cx="5997645" cy="2193612"/>
            </a:xfrm>
            <a:prstGeom prst="ellipse">
              <a:avLst/>
            </a:pr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" name="TextBox 16"/>
            <p:cNvSpPr txBox="1"/>
            <p:nvPr/>
          </p:nvSpPr>
          <p:spPr>
            <a:xfrm>
              <a:off x="562279" y="375979"/>
              <a:ext cx="4873087" cy="1332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>
                <a:lnSpc>
                  <a:spcPts val="3200"/>
                </a:lnSpc>
                <a:defRPr b="1" sz="26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ASPECT RATIO GEOMETRY</a:t>
              </a:r>
            </a:p>
            <a:p>
              <a:pPr lvl="1" marL="495136" indent="-247568" algn="ctr">
                <a:lnSpc>
                  <a:spcPts val="3200"/>
                </a:lnSpc>
                <a:buSzPct val="100000"/>
                <a:buFont typeface="Arial"/>
                <a:buChar char="•"/>
                <a:defRPr b="1" sz="26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Eye Aspect Ratio (EAR)</a:t>
              </a:r>
            </a:p>
            <a:p>
              <a:pPr lvl="1" marL="495136" indent="-247568" algn="ctr">
                <a:lnSpc>
                  <a:spcPts val="3200"/>
                </a:lnSpc>
                <a:buSzPct val="100000"/>
                <a:buFont typeface="Arial"/>
                <a:buChar char="•"/>
                <a:defRPr b="1" sz="26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Mouth Aspect Ratio (MAR)</a:t>
              </a:r>
            </a:p>
          </p:txBody>
        </p:sp>
      </p:grpSp>
      <p:grpSp>
        <p:nvGrpSpPr>
          <p:cNvPr id="157" name="Group 17"/>
          <p:cNvGrpSpPr/>
          <p:nvPr/>
        </p:nvGrpSpPr>
        <p:grpSpPr>
          <a:xfrm>
            <a:off x="11658628" y="4928684"/>
            <a:ext cx="2902250" cy="1855659"/>
            <a:chOff x="0" y="0"/>
            <a:chExt cx="2902249" cy="1855658"/>
          </a:xfrm>
        </p:grpSpPr>
        <p:sp>
          <p:nvSpPr>
            <p:cNvPr id="155" name="Freeform 18"/>
            <p:cNvSpPr/>
            <p:nvPr/>
          </p:nvSpPr>
          <p:spPr>
            <a:xfrm>
              <a:off x="0" y="0"/>
              <a:ext cx="2902250" cy="1855659"/>
            </a:xfrm>
            <a:prstGeom prst="ellipse">
              <a:avLst/>
            </a:pr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TextBox 19"/>
            <p:cNvSpPr txBox="1"/>
            <p:nvPr/>
          </p:nvSpPr>
          <p:spPr>
            <a:xfrm>
              <a:off x="272086" y="207002"/>
              <a:ext cx="2358079" cy="1332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200"/>
                </a:lnSpc>
                <a:defRPr b="1" sz="2600">
                  <a:latin typeface="Chalkboard"/>
                  <a:ea typeface="Chalkboard"/>
                  <a:cs typeface="Chalkboard"/>
                  <a:sym typeface="Chalkboard"/>
                </a:defRPr>
              </a:lvl1pPr>
            </a:lstStyle>
            <a:p>
              <a:pPr/>
              <a:r>
                <a:t>TEMPORAL THRESHOLD ANALYSIS</a:t>
              </a:r>
            </a:p>
          </p:txBody>
        </p:sp>
      </p:grpSp>
      <p:sp>
        <p:nvSpPr>
          <p:cNvPr id="158" name="Freeform 20"/>
          <p:cNvSpPr/>
          <p:nvPr/>
        </p:nvSpPr>
        <p:spPr>
          <a:xfrm>
            <a:off x="14188634" y="850939"/>
            <a:ext cx="1177786" cy="134674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Freeform 21"/>
          <p:cNvSpPr/>
          <p:nvPr/>
        </p:nvSpPr>
        <p:spPr>
          <a:xfrm>
            <a:off x="14865433" y="6330817"/>
            <a:ext cx="871872" cy="112830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Freeform 22"/>
          <p:cNvSpPr/>
          <p:nvPr/>
        </p:nvSpPr>
        <p:spPr>
          <a:xfrm>
            <a:off x="2003710" y="6078353"/>
            <a:ext cx="996588" cy="134674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Freeform 23"/>
          <p:cNvSpPr/>
          <p:nvPr/>
        </p:nvSpPr>
        <p:spPr>
          <a:xfrm>
            <a:off x="11664826" y="7806012"/>
            <a:ext cx="5792104" cy="2522236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Box 24"/>
          <p:cNvSpPr txBox="1"/>
          <p:nvPr/>
        </p:nvSpPr>
        <p:spPr>
          <a:xfrm>
            <a:off x="3739847" y="1171265"/>
            <a:ext cx="10146325" cy="706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500"/>
              </a:lnSpc>
              <a:defRPr b="1" sz="41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Proposed Solution &amp; Mathematical Basis</a:t>
            </a:r>
          </a:p>
        </p:txBody>
      </p:sp>
      <p:sp>
        <p:nvSpPr>
          <p:cNvPr id="163" name="TextBox 25"/>
          <p:cNvSpPr txBox="1"/>
          <p:nvPr/>
        </p:nvSpPr>
        <p:spPr>
          <a:xfrm>
            <a:off x="2007540" y="2412967"/>
            <a:ext cx="11724242" cy="1519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631915" indent="-315957">
              <a:lnSpc>
                <a:spcPts val="4000"/>
              </a:lnSpc>
              <a:buSzPct val="100000"/>
              <a:buFont typeface="Arial"/>
              <a:buChar char="•"/>
              <a:defRPr b="1" sz="27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A VISION-BASED DROWSINESS DETECTION SYSTEM</a:t>
            </a:r>
          </a:p>
          <a:p>
            <a:pPr lvl="1" marL="631915" indent="-315957">
              <a:lnSpc>
                <a:spcPts val="4000"/>
              </a:lnSpc>
              <a:buSzPct val="100000"/>
              <a:buFont typeface="Arial"/>
              <a:buChar char="•"/>
              <a:defRPr b="1" sz="27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USES A WEBCAM TO ANALYZE FACIAL FEATURES IN REAL TIME</a:t>
            </a:r>
          </a:p>
          <a:p>
            <a:pPr lvl="1" marL="631915" indent="-315957">
              <a:lnSpc>
                <a:spcPts val="4000"/>
              </a:lnSpc>
              <a:buSzPct val="100000"/>
              <a:buFont typeface="Arial"/>
              <a:buChar char="•"/>
              <a:defRPr b="1" sz="27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NO PHYSICAL SENSORS OR WEARABLES REQUIRED</a:t>
            </a:r>
          </a:p>
        </p:txBody>
      </p:sp>
      <p:sp>
        <p:nvSpPr>
          <p:cNvPr id="167" name="Connection Line"/>
          <p:cNvSpPr/>
          <p:nvPr/>
        </p:nvSpPr>
        <p:spPr>
          <a:xfrm>
            <a:off x="3987187" y="6017888"/>
            <a:ext cx="1822727" cy="1692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8770" y="19870"/>
                  <a:pt x="1570" y="12670"/>
                  <a:pt x="0" y="0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168" name="Connection Line"/>
          <p:cNvSpPr/>
          <p:nvPr/>
        </p:nvSpPr>
        <p:spPr>
          <a:xfrm>
            <a:off x="4780049" y="4079783"/>
            <a:ext cx="3217630" cy="435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833" fill="norm" stroke="1" extrusionOk="0">
                <a:moveTo>
                  <a:pt x="0" y="6306"/>
                </a:moveTo>
                <a:cubicBezTo>
                  <a:pt x="4618" y="-4767"/>
                  <a:pt x="11818" y="-1258"/>
                  <a:pt x="21600" y="16833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169" name="Connection Line"/>
          <p:cNvSpPr/>
          <p:nvPr/>
        </p:nvSpPr>
        <p:spPr>
          <a:xfrm>
            <a:off x="5509423" y="5409218"/>
            <a:ext cx="6230310" cy="804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43" fill="norm" stroke="1" extrusionOk="0">
                <a:moveTo>
                  <a:pt x="0" y="0"/>
                </a:moveTo>
                <a:cubicBezTo>
                  <a:pt x="9842" y="15022"/>
                  <a:pt x="17042" y="21600"/>
                  <a:pt x="21600" y="19734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Freeform 3"/>
          <p:cNvSpPr/>
          <p:nvPr/>
        </p:nvSpPr>
        <p:spPr>
          <a:xfrm rot="24000">
            <a:off x="1196629" y="1114291"/>
            <a:ext cx="16989904" cy="8639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65"/>
                </a:moveTo>
                <a:lnTo>
                  <a:pt x="21516" y="0"/>
                </a:lnTo>
                <a:lnTo>
                  <a:pt x="21600" y="21335"/>
                </a:lnTo>
                <a:lnTo>
                  <a:pt x="84" y="21600"/>
                </a:lnTo>
                <a:lnTo>
                  <a:pt x="0" y="265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Freeform 4"/>
          <p:cNvSpPr/>
          <p:nvPr/>
        </p:nvSpPr>
        <p:spPr>
          <a:xfrm>
            <a:off x="9914691" y="5057878"/>
            <a:ext cx="2723936" cy="75279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Freeform 5"/>
          <p:cNvSpPr/>
          <p:nvPr/>
        </p:nvSpPr>
        <p:spPr>
          <a:xfrm>
            <a:off x="14716916" y="8442202"/>
            <a:ext cx="2560426" cy="70760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Freeform 6"/>
          <p:cNvSpPr/>
          <p:nvPr/>
        </p:nvSpPr>
        <p:spPr>
          <a:xfrm>
            <a:off x="13836191" y="1872315"/>
            <a:ext cx="2560425" cy="70761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Freeform 7"/>
          <p:cNvSpPr/>
          <p:nvPr/>
        </p:nvSpPr>
        <p:spPr>
          <a:xfrm>
            <a:off x="-1017021" y="7327689"/>
            <a:ext cx="5939288" cy="4114801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Box 8"/>
          <p:cNvSpPr txBox="1"/>
          <p:nvPr/>
        </p:nvSpPr>
        <p:spPr>
          <a:xfrm>
            <a:off x="3045814" y="414813"/>
            <a:ext cx="12613407" cy="682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200"/>
              </a:lnSpc>
              <a:defRPr b="1" sz="43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Mathematical Foundation – Euclidean Distance</a:t>
            </a:r>
          </a:p>
        </p:txBody>
      </p:sp>
      <p:sp>
        <p:nvSpPr>
          <p:cNvPr id="178" name="TextBox 9"/>
          <p:cNvSpPr txBox="1"/>
          <p:nvPr/>
        </p:nvSpPr>
        <p:spPr>
          <a:xfrm>
            <a:off x="1467685" y="1901978"/>
            <a:ext cx="6189917" cy="1062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900"/>
              </a:lnSpc>
              <a:defRPr b="1" sz="29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EUCLIDEAN DISTANCE FORMULA</a:t>
            </a:r>
          </a:p>
          <a:p>
            <a:pPr algn="ctr">
              <a:lnSpc>
                <a:spcPts val="3900"/>
              </a:lnSpc>
              <a:defRPr b="1" sz="29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D = √[(X₂ - X₁)² + (Y₂ - Y₁)²]</a:t>
            </a:r>
          </a:p>
        </p:txBody>
      </p:sp>
      <p:sp>
        <p:nvSpPr>
          <p:cNvPr id="179" name="TextBox 10"/>
          <p:cNvSpPr txBox="1"/>
          <p:nvPr/>
        </p:nvSpPr>
        <p:spPr>
          <a:xfrm>
            <a:off x="2404854" y="3035915"/>
            <a:ext cx="13478292" cy="5335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200"/>
              </a:lnSpc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ROLE IN OUR SYSTEM</a:t>
            </a:r>
          </a:p>
          <a:p>
            <a:pPr lvl="1" marL="647865" indent="-323932">
              <a:lnSpc>
                <a:spcPts val="4200"/>
              </a:lnSpc>
              <a:buSzPct val="100000"/>
              <a:buFont typeface="Arial"/>
              <a:buChar char="•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MEASURES DISTANCE BETWEEN FACIAL LANDMARK POINTS</a:t>
            </a:r>
          </a:p>
          <a:p>
            <a:pPr lvl="1" marL="647865" indent="-323932">
              <a:lnSpc>
                <a:spcPts val="4200"/>
              </a:lnSpc>
              <a:buSzPct val="100000"/>
              <a:buFont typeface="Arial"/>
              <a:buChar char="•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USED TO CALCULATE:</a:t>
            </a:r>
          </a:p>
          <a:p>
            <a:pPr lvl="2" marL="1295731" indent="-431911">
              <a:lnSpc>
                <a:spcPts val="4200"/>
              </a:lnSpc>
              <a:buSzPct val="100000"/>
              <a:buFont typeface="Arial"/>
              <a:buChar char="⚬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VERTICAL EYE OPENING</a:t>
            </a:r>
          </a:p>
          <a:p>
            <a:pPr lvl="2" marL="1295731" indent="-431911">
              <a:lnSpc>
                <a:spcPts val="4200"/>
              </a:lnSpc>
              <a:buSzPct val="100000"/>
              <a:buFont typeface="Arial"/>
              <a:buChar char="⚬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HORIZONTAL EYE WIDTH</a:t>
            </a:r>
          </a:p>
          <a:p>
            <a:pPr lvl="2" marL="1295731" indent="-431911">
              <a:lnSpc>
                <a:spcPts val="4200"/>
              </a:lnSpc>
              <a:buSzPct val="100000"/>
              <a:buFont typeface="Arial"/>
              <a:buChar char="⚬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MOUTH OPENING</a:t>
            </a:r>
          </a:p>
          <a:p>
            <a:pPr>
              <a:lnSpc>
                <a:spcPts val="4200"/>
              </a:lnSpc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WHY IT IS IMPORTANT</a:t>
            </a:r>
          </a:p>
          <a:p>
            <a:pPr lvl="1" marL="647865" indent="-323932">
              <a:lnSpc>
                <a:spcPts val="4200"/>
              </a:lnSpc>
              <a:buSzPct val="100000"/>
              <a:buFont typeface="Arial"/>
              <a:buChar char="•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SIMPLE BUT POWERFUL</a:t>
            </a:r>
          </a:p>
          <a:p>
            <a:pPr lvl="1" marL="647865" indent="-323932">
              <a:lnSpc>
                <a:spcPts val="4200"/>
              </a:lnSpc>
              <a:buSzPct val="100000"/>
              <a:buFont typeface="Arial"/>
              <a:buChar char="•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INDEPENDENT OF LIGHTING AND FACE SIZE</a:t>
            </a:r>
          </a:p>
          <a:p>
            <a:pPr lvl="1" marL="647865" indent="-323932">
              <a:lnSpc>
                <a:spcPts val="4200"/>
              </a:lnSpc>
              <a:buSzPct val="100000"/>
              <a:buFont typeface="Arial"/>
              <a:buChar char="•"/>
              <a:defRPr b="1" sz="30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FORMS THE BASE FOR EAR AND MAR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Freeform 4"/>
          <p:cNvSpPr/>
          <p:nvPr/>
        </p:nvSpPr>
        <p:spPr>
          <a:xfrm>
            <a:off x="591909" y="1238894"/>
            <a:ext cx="8175983" cy="8767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2" y="0"/>
                </a:moveTo>
                <a:lnTo>
                  <a:pt x="21418" y="0"/>
                </a:lnTo>
                <a:cubicBezTo>
                  <a:pt x="21466" y="0"/>
                  <a:pt x="21513" y="18"/>
                  <a:pt x="21547" y="50"/>
                </a:cubicBezTo>
                <a:cubicBezTo>
                  <a:pt x="21581" y="81"/>
                  <a:pt x="21600" y="125"/>
                  <a:pt x="21600" y="170"/>
                </a:cubicBezTo>
                <a:lnTo>
                  <a:pt x="21600" y="21430"/>
                </a:lnTo>
                <a:cubicBezTo>
                  <a:pt x="21600" y="21524"/>
                  <a:pt x="21519" y="21600"/>
                  <a:pt x="21418" y="21600"/>
                </a:cubicBezTo>
                <a:lnTo>
                  <a:pt x="182" y="21600"/>
                </a:lnTo>
                <a:cubicBezTo>
                  <a:pt x="81" y="21600"/>
                  <a:pt x="0" y="21524"/>
                  <a:pt x="0" y="21430"/>
                </a:cubicBezTo>
                <a:lnTo>
                  <a:pt x="0" y="170"/>
                </a:lnTo>
                <a:cubicBezTo>
                  <a:pt x="0" y="76"/>
                  <a:pt x="81" y="0"/>
                  <a:pt x="182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Freeform 7"/>
          <p:cNvSpPr/>
          <p:nvPr/>
        </p:nvSpPr>
        <p:spPr>
          <a:xfrm>
            <a:off x="8871506" y="1238894"/>
            <a:ext cx="8791274" cy="8767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4" y="0"/>
                </a:moveTo>
                <a:lnTo>
                  <a:pt x="21426" y="0"/>
                </a:lnTo>
                <a:cubicBezTo>
                  <a:pt x="21522" y="0"/>
                  <a:pt x="21600" y="74"/>
                  <a:pt x="21600" y="166"/>
                </a:cubicBezTo>
                <a:lnTo>
                  <a:pt x="21600" y="21434"/>
                </a:lnTo>
                <a:cubicBezTo>
                  <a:pt x="21600" y="21526"/>
                  <a:pt x="21522" y="21600"/>
                  <a:pt x="21426" y="21600"/>
                </a:cubicBezTo>
                <a:lnTo>
                  <a:pt x="174" y="21600"/>
                </a:lnTo>
                <a:cubicBezTo>
                  <a:pt x="78" y="21600"/>
                  <a:pt x="0" y="21526"/>
                  <a:pt x="0" y="21434"/>
                </a:cubicBezTo>
                <a:lnTo>
                  <a:pt x="0" y="166"/>
                </a:lnTo>
                <a:cubicBezTo>
                  <a:pt x="0" y="74"/>
                  <a:pt x="78" y="0"/>
                  <a:pt x="174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Freeform 9"/>
          <p:cNvSpPr/>
          <p:nvPr/>
        </p:nvSpPr>
        <p:spPr>
          <a:xfrm>
            <a:off x="15154552" y="7216836"/>
            <a:ext cx="6266895" cy="430706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Freeform 10"/>
          <p:cNvSpPr/>
          <p:nvPr/>
        </p:nvSpPr>
        <p:spPr>
          <a:xfrm>
            <a:off x="-2369342" y="6984320"/>
            <a:ext cx="4793069" cy="348586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Box 11"/>
          <p:cNvSpPr txBox="1"/>
          <p:nvPr/>
        </p:nvSpPr>
        <p:spPr>
          <a:xfrm>
            <a:off x="3424624" y="123501"/>
            <a:ext cx="12378909" cy="928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300"/>
              </a:lnSpc>
              <a:defRPr b="1" sz="52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EAR &amp; MAR (Core Detection Logic)</a:t>
            </a:r>
          </a:p>
        </p:txBody>
      </p:sp>
      <p:sp>
        <p:nvSpPr>
          <p:cNvPr id="187" name="TextBox 12"/>
          <p:cNvSpPr txBox="1"/>
          <p:nvPr/>
        </p:nvSpPr>
        <p:spPr>
          <a:xfrm>
            <a:off x="1195990" y="1370455"/>
            <a:ext cx="6967819" cy="132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500"/>
              </a:lnSpc>
              <a:defRPr b="1" sz="39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EYE ASPECT RATIO (EAR)</a:t>
            </a:r>
          </a:p>
        </p:txBody>
      </p:sp>
      <p:sp>
        <p:nvSpPr>
          <p:cNvPr id="188" name="TextBox 13"/>
          <p:cNvSpPr txBox="1"/>
          <p:nvPr/>
        </p:nvSpPr>
        <p:spPr>
          <a:xfrm>
            <a:off x="9376365" y="1370455"/>
            <a:ext cx="7348141" cy="132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500"/>
              </a:lnSpc>
              <a:defRPr b="1" sz="39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MOUTH ASPECT RATIO (MAR)</a:t>
            </a:r>
          </a:p>
        </p:txBody>
      </p:sp>
      <p:pic>
        <p:nvPicPr>
          <p:cNvPr id="189" name="drowsy.png" descr="drowsy.png"/>
          <p:cNvPicPr>
            <a:picLocks noChangeAspect="1"/>
          </p:cNvPicPr>
          <p:nvPr/>
        </p:nvPicPr>
        <p:blipFill>
          <a:blip r:embed="rId5">
            <a:extLst/>
          </a:blip>
          <a:srcRect l="0" t="4026" r="50217" b="12999"/>
          <a:stretch>
            <a:fillRect/>
          </a:stretch>
        </p:blipFill>
        <p:spPr>
          <a:xfrm>
            <a:off x="961937" y="2169174"/>
            <a:ext cx="3278015" cy="2142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drowsy.png" descr="drowsy.png"/>
          <p:cNvPicPr>
            <a:picLocks noChangeAspect="1"/>
          </p:cNvPicPr>
          <p:nvPr/>
        </p:nvPicPr>
        <p:blipFill>
          <a:blip r:embed="rId5">
            <a:extLst/>
          </a:blip>
          <a:srcRect l="49352" t="0" r="0" b="15157"/>
          <a:stretch>
            <a:fillRect/>
          </a:stretch>
        </p:blipFill>
        <p:spPr>
          <a:xfrm>
            <a:off x="9162234" y="2197947"/>
            <a:ext cx="3174036" cy="208510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EAR = (||E₂ - E₆|| + ||E₃ - E₅||) / (2 × ||E₁ - E₄||)"/>
          <p:cNvSpPr txBox="1"/>
          <p:nvPr/>
        </p:nvSpPr>
        <p:spPr>
          <a:xfrm>
            <a:off x="658433" y="4592911"/>
            <a:ext cx="8042936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9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EAR = (||E₂ - E₆|| + ||E₃ - E₅||) / (2 × ||E₁ - E₄||)</a:t>
            </a:r>
          </a:p>
        </p:txBody>
      </p:sp>
      <p:sp>
        <p:nvSpPr>
          <p:cNvPr id="192" name="Visual Diagram: Eye with 6 labeled landmark points (E1-E6)…"/>
          <p:cNvSpPr txBox="1"/>
          <p:nvPr/>
        </p:nvSpPr>
        <p:spPr>
          <a:xfrm>
            <a:off x="4022077" y="2128018"/>
            <a:ext cx="4496624" cy="2449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rPr b="1" u="sng"/>
              <a:t>Visual Diagram:</a:t>
            </a:r>
            <a:r>
              <a:t> Eye with 6 labeled landmark points (E1-E6)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t>E1, E4: Left/right corners (horizontal)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t>E2, E3, E5, E6: Top/bottom points (vertical) </a:t>
            </a:r>
          </a:p>
        </p:txBody>
      </p:sp>
      <p:sp>
        <p:nvSpPr>
          <p:cNvPr id="193" name="Numerator: Vertical eye distances (eye height)…"/>
          <p:cNvSpPr txBox="1"/>
          <p:nvPr/>
        </p:nvSpPr>
        <p:spPr>
          <a:xfrm>
            <a:off x="637343" y="5221860"/>
            <a:ext cx="7662562" cy="150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Numerator</a:t>
            </a:r>
            <a:r>
              <a:t>: Vertical eye distances (eye height)</a:t>
            </a:r>
          </a:p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Denominator</a:t>
            </a:r>
            <a:r>
              <a:t>: Horizontal eye distance × 2 (eye width)</a:t>
            </a:r>
          </a:p>
        </p:txBody>
      </p:sp>
      <p:sp>
        <p:nvSpPr>
          <p:cNvPr id="194" name="Visual Diagram: Mouth with 6 labeled landmark points (M1-M6)…"/>
          <p:cNvSpPr txBox="1"/>
          <p:nvPr/>
        </p:nvSpPr>
        <p:spPr>
          <a:xfrm>
            <a:off x="12469692" y="2015654"/>
            <a:ext cx="4793069" cy="244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rPr b="1" u="sng"/>
              <a:t>Visual Diagram</a:t>
            </a:r>
            <a:r>
              <a:rPr b="1"/>
              <a:t>:</a:t>
            </a:r>
            <a:r>
              <a:t> Mouth with 6 labeled landmark points (M1-M6)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t>M1, M4: Left/right corners (horizontal)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t>E2, E3, E5, E6: Top/bottom points (vertical)</a:t>
            </a:r>
          </a:p>
        </p:txBody>
      </p:sp>
      <p:sp>
        <p:nvSpPr>
          <p:cNvPr id="195" name="MAR = (||M₂ - M₆|| + ||M₃ - M₅||) / (2 × ||M₁ - M₄||)"/>
          <p:cNvSpPr txBox="1"/>
          <p:nvPr/>
        </p:nvSpPr>
        <p:spPr>
          <a:xfrm>
            <a:off x="8945795" y="4564112"/>
            <a:ext cx="9194656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9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MAR = (||M₂ - M₆|| + ||M₃ - M₅||) / (2 × ||M₁ - M₄||)</a:t>
            </a:r>
          </a:p>
        </p:txBody>
      </p:sp>
      <p:sp>
        <p:nvSpPr>
          <p:cNvPr id="196" name="Numerator: Vertical mouth distances (mouth height)…"/>
          <p:cNvSpPr txBox="1"/>
          <p:nvPr/>
        </p:nvSpPr>
        <p:spPr>
          <a:xfrm>
            <a:off x="9003923" y="5299752"/>
            <a:ext cx="8399574" cy="193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Numerator</a:t>
            </a:r>
            <a:r>
              <a:t>: Vertical mouth distances (mouth height)</a:t>
            </a:r>
          </a:p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Denominator</a:t>
            </a:r>
            <a:r>
              <a:t>: Horizontal mouth distance × 2 (mouth width)</a:t>
            </a:r>
          </a:p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Result</a:t>
            </a:r>
            <a:r>
              <a:t>: Dimensionless ratio independent of face size</a:t>
            </a:r>
          </a:p>
        </p:txBody>
      </p:sp>
      <p:sp>
        <p:nvSpPr>
          <p:cNvPr id="197" name="Measures eye openness using facial landmark distances; EAR drops when eyes close.…"/>
          <p:cNvSpPr txBox="1"/>
          <p:nvPr/>
        </p:nvSpPr>
        <p:spPr>
          <a:xfrm>
            <a:off x="2219861" y="7155828"/>
            <a:ext cx="6754390" cy="2271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34210" indent="-334210" defTabSz="457200">
              <a:spcBef>
                <a:spcPts val="1200"/>
              </a:spcBef>
              <a:buSzPct val="100000"/>
              <a:buAutoNum type="arabicPeriod" startAt="1"/>
              <a:defRPr sz="2500">
                <a:latin typeface="Chalkboard"/>
                <a:ea typeface="Chalkboard"/>
                <a:cs typeface="Chalkboard"/>
                <a:sym typeface="Chalkboard"/>
              </a:defRPr>
            </a:pPr>
            <a:r>
              <a:t>Measures eye openness using facial landmark distances; EAR drops when eyes close.</a:t>
            </a:r>
          </a:p>
          <a:p>
            <a:pPr marL="334210" indent="-334210" defTabSz="457200">
              <a:spcBef>
                <a:spcPts val="1200"/>
              </a:spcBef>
              <a:buSzPct val="100000"/>
              <a:buAutoNum type="arabicPeriod" startAt="1"/>
              <a:defRPr sz="2500">
                <a:latin typeface="Chalkboard"/>
                <a:ea typeface="Chalkboard"/>
                <a:cs typeface="Chalkboard"/>
                <a:sym typeface="Chalkboard"/>
              </a:defRPr>
            </a:pPr>
            <a:r>
              <a:t>Drowsiness is detected when EAR &lt; 0.21    for ~20 consecutive frames (≈0.6 s).</a:t>
            </a:r>
          </a:p>
        </p:txBody>
      </p:sp>
      <p:sp>
        <p:nvSpPr>
          <p:cNvPr id="198" name="Result: Dimensionless ratio independent…"/>
          <p:cNvSpPr txBox="1"/>
          <p:nvPr/>
        </p:nvSpPr>
        <p:spPr>
          <a:xfrm>
            <a:off x="1742553" y="6211878"/>
            <a:ext cx="6200941" cy="950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Result</a:t>
            </a:r>
            <a:r>
              <a:t>: Dimensionless ratio independent</a:t>
            </a:r>
          </a:p>
          <a:p>
            <a:pPr defTabSz="457200"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t>                  of face size</a:t>
            </a:r>
          </a:p>
        </p:txBody>
      </p:sp>
      <p:sp>
        <p:nvSpPr>
          <p:cNvPr id="199" name="Measures mouth opening using landmark distance ratios; MAR increases during yawning.…"/>
          <p:cNvSpPr txBox="1"/>
          <p:nvPr/>
        </p:nvSpPr>
        <p:spPr>
          <a:xfrm>
            <a:off x="9143744" y="7305391"/>
            <a:ext cx="6967820" cy="2271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34210" indent="-334210" defTabSz="457200">
              <a:spcBef>
                <a:spcPts val="1200"/>
              </a:spcBef>
              <a:buSzPct val="100000"/>
              <a:buAutoNum type="arabicPeriod" startAt="1"/>
              <a:defRPr sz="2500">
                <a:latin typeface="Chalkboard"/>
                <a:ea typeface="Chalkboard"/>
                <a:cs typeface="Chalkboard"/>
                <a:sym typeface="Chalkboard"/>
              </a:defRPr>
            </a:pPr>
            <a:r>
              <a:t>Measures mouth opening using landmark distance ratios; MAR increases during yawning.</a:t>
            </a:r>
          </a:p>
          <a:p>
            <a:pPr marL="334210" indent="-334210" defTabSz="457200">
              <a:spcBef>
                <a:spcPts val="1200"/>
              </a:spcBef>
              <a:buSzPct val="100000"/>
              <a:buAutoNum type="arabicPeriod" startAt="1"/>
              <a:defRPr sz="2500">
                <a:latin typeface="Chalkboard"/>
                <a:ea typeface="Chalkboard"/>
                <a:cs typeface="Chalkboard"/>
                <a:sym typeface="Chalkboard"/>
              </a:defRPr>
            </a:pPr>
            <a:r>
              <a:t>Yawning is detected when MAR &gt; 0.60 for ~10 consecutive frames (≈0.3 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Freeform 4"/>
          <p:cNvSpPr/>
          <p:nvPr/>
        </p:nvSpPr>
        <p:spPr>
          <a:xfrm rot="93123">
            <a:off x="2244226" y="1467293"/>
            <a:ext cx="13118098" cy="8000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518" y="0"/>
                </a:lnTo>
                <a:cubicBezTo>
                  <a:pt x="21539" y="0"/>
                  <a:pt x="21560" y="14"/>
                  <a:pt x="21576" y="40"/>
                </a:cubicBezTo>
                <a:cubicBezTo>
                  <a:pt x="21591" y="65"/>
                  <a:pt x="21600" y="99"/>
                  <a:pt x="21600" y="135"/>
                </a:cubicBezTo>
                <a:lnTo>
                  <a:pt x="21600" y="21465"/>
                </a:lnTo>
                <a:cubicBezTo>
                  <a:pt x="21600" y="21501"/>
                  <a:pt x="21591" y="21535"/>
                  <a:pt x="21576" y="21560"/>
                </a:cubicBezTo>
                <a:cubicBezTo>
                  <a:pt x="21560" y="21586"/>
                  <a:pt x="21539" y="21600"/>
                  <a:pt x="21518" y="21600"/>
                </a:cubicBezTo>
                <a:lnTo>
                  <a:pt x="82" y="21600"/>
                </a:lnTo>
                <a:cubicBezTo>
                  <a:pt x="61" y="21600"/>
                  <a:pt x="40" y="21586"/>
                  <a:pt x="24" y="21560"/>
                </a:cubicBezTo>
                <a:cubicBezTo>
                  <a:pt x="9" y="21535"/>
                  <a:pt x="0" y="21501"/>
                  <a:pt x="0" y="21465"/>
                </a:cubicBezTo>
                <a:lnTo>
                  <a:pt x="0" y="135"/>
                </a:lnTo>
                <a:cubicBezTo>
                  <a:pt x="0" y="99"/>
                  <a:pt x="9" y="65"/>
                  <a:pt x="24" y="40"/>
                </a:cubicBezTo>
                <a:cubicBezTo>
                  <a:pt x="40" y="14"/>
                  <a:pt x="61" y="0"/>
                  <a:pt x="82" y="0"/>
                </a:cubicBezTo>
                <a:close/>
              </a:path>
            </a:pathLst>
          </a:custGeom>
          <a:solidFill>
            <a:srgbClr val="000000">
              <a:alpha val="31765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Freeform 7"/>
          <p:cNvSpPr/>
          <p:nvPr/>
        </p:nvSpPr>
        <p:spPr>
          <a:xfrm>
            <a:off x="838952" y="933052"/>
            <a:ext cx="16394703" cy="83342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" y="0"/>
                </a:moveTo>
                <a:lnTo>
                  <a:pt x="21563" y="0"/>
                </a:lnTo>
                <a:cubicBezTo>
                  <a:pt x="21583" y="0"/>
                  <a:pt x="21600" y="25"/>
                  <a:pt x="21600" y="57"/>
                </a:cubicBezTo>
                <a:lnTo>
                  <a:pt x="21600" y="21543"/>
                </a:lnTo>
                <a:cubicBezTo>
                  <a:pt x="21600" y="21558"/>
                  <a:pt x="21596" y="21573"/>
                  <a:pt x="21589" y="21583"/>
                </a:cubicBezTo>
                <a:cubicBezTo>
                  <a:pt x="21582" y="21594"/>
                  <a:pt x="21573" y="21600"/>
                  <a:pt x="21563" y="21600"/>
                </a:cubicBezTo>
                <a:lnTo>
                  <a:pt x="37" y="21600"/>
                </a:lnTo>
                <a:cubicBezTo>
                  <a:pt x="27" y="21600"/>
                  <a:pt x="18" y="21594"/>
                  <a:pt x="11" y="21583"/>
                </a:cubicBezTo>
                <a:cubicBezTo>
                  <a:pt x="4" y="21573"/>
                  <a:pt x="0" y="21558"/>
                  <a:pt x="0" y="21543"/>
                </a:cubicBezTo>
                <a:lnTo>
                  <a:pt x="0" y="57"/>
                </a:lnTo>
                <a:cubicBezTo>
                  <a:pt x="0" y="42"/>
                  <a:pt x="4" y="27"/>
                  <a:pt x="11" y="17"/>
                </a:cubicBezTo>
                <a:cubicBezTo>
                  <a:pt x="18" y="6"/>
                  <a:pt x="27" y="0"/>
                  <a:pt x="37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Freeform 11"/>
          <p:cNvSpPr/>
          <p:nvPr/>
        </p:nvSpPr>
        <p:spPr>
          <a:xfrm>
            <a:off x="13090518" y="1560458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Freeform 13"/>
          <p:cNvSpPr/>
          <p:nvPr/>
        </p:nvSpPr>
        <p:spPr>
          <a:xfrm>
            <a:off x="13280302" y="1801420"/>
            <a:ext cx="686539" cy="58418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Freeform 15"/>
          <p:cNvSpPr/>
          <p:nvPr/>
        </p:nvSpPr>
        <p:spPr>
          <a:xfrm>
            <a:off x="11812603" y="1137507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Freeform 17"/>
          <p:cNvSpPr/>
          <p:nvPr/>
        </p:nvSpPr>
        <p:spPr>
          <a:xfrm>
            <a:off x="12008408" y="1417317"/>
            <a:ext cx="674497" cy="50648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Freeform 19"/>
          <p:cNvSpPr/>
          <p:nvPr/>
        </p:nvSpPr>
        <p:spPr>
          <a:xfrm>
            <a:off x="13574054" y="2767348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Freeform 21"/>
          <p:cNvSpPr/>
          <p:nvPr/>
        </p:nvSpPr>
        <p:spPr>
          <a:xfrm>
            <a:off x="13860642" y="3011850"/>
            <a:ext cx="492931" cy="68290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Freeform 24"/>
          <p:cNvSpPr/>
          <p:nvPr/>
        </p:nvSpPr>
        <p:spPr>
          <a:xfrm rot="21482714">
            <a:off x="14070264" y="-311102"/>
            <a:ext cx="3828639" cy="450910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Freeform 25"/>
          <p:cNvSpPr/>
          <p:nvPr/>
        </p:nvSpPr>
        <p:spPr>
          <a:xfrm>
            <a:off x="688512" y="15063"/>
            <a:ext cx="1239168" cy="1189601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Box 26"/>
          <p:cNvSpPr txBox="1"/>
          <p:nvPr/>
        </p:nvSpPr>
        <p:spPr>
          <a:xfrm>
            <a:off x="759789" y="959954"/>
            <a:ext cx="11012976" cy="105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8800"/>
              </a:lnSpc>
              <a:defRPr sz="45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How EAR Works - Complete Calculation</a:t>
            </a:r>
          </a:p>
        </p:txBody>
      </p:sp>
      <p:sp>
        <p:nvSpPr>
          <p:cNvPr id="213" name="-&gt;From Coordinates to Drowsiness Detection"/>
          <p:cNvSpPr txBox="1"/>
          <p:nvPr/>
        </p:nvSpPr>
        <p:spPr>
          <a:xfrm>
            <a:off x="1152193" y="2023220"/>
            <a:ext cx="7655201" cy="531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28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-&gt;From Coordinates to Drowsiness Detection</a:t>
            </a:r>
          </a:p>
        </p:txBody>
      </p:sp>
      <p:grpSp>
        <p:nvGrpSpPr>
          <p:cNvPr id="216" name="Freeform 8"/>
          <p:cNvGrpSpPr/>
          <p:nvPr/>
        </p:nvGrpSpPr>
        <p:grpSpPr>
          <a:xfrm>
            <a:off x="963226" y="2657369"/>
            <a:ext cx="6176974" cy="4052479"/>
            <a:chOff x="0" y="0"/>
            <a:chExt cx="6176972" cy="4052477"/>
          </a:xfrm>
        </p:grpSpPr>
        <p:sp>
          <p:nvSpPr>
            <p:cNvPr id="215" name="Freeform 8"/>
            <p:cNvSpPr/>
            <p:nvPr/>
          </p:nvSpPr>
          <p:spPr>
            <a:xfrm>
              <a:off x="38100" y="38100"/>
              <a:ext cx="6100773" cy="3976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56" y="0"/>
                  </a:moveTo>
                  <a:lnTo>
                    <a:pt x="21044" y="0"/>
                  </a:lnTo>
                  <a:cubicBezTo>
                    <a:pt x="21191" y="0"/>
                    <a:pt x="21333" y="37"/>
                    <a:pt x="21437" y="103"/>
                  </a:cubicBezTo>
                  <a:cubicBezTo>
                    <a:pt x="21541" y="169"/>
                    <a:pt x="21600" y="258"/>
                    <a:pt x="21600" y="351"/>
                  </a:cubicBezTo>
                  <a:lnTo>
                    <a:pt x="21600" y="21249"/>
                  </a:lnTo>
                  <a:cubicBezTo>
                    <a:pt x="21600" y="21342"/>
                    <a:pt x="21541" y="21431"/>
                    <a:pt x="21437" y="21497"/>
                  </a:cubicBezTo>
                  <a:cubicBezTo>
                    <a:pt x="21333" y="21563"/>
                    <a:pt x="21191" y="21600"/>
                    <a:pt x="21044" y="21600"/>
                  </a:cubicBezTo>
                  <a:lnTo>
                    <a:pt x="556" y="21600"/>
                  </a:lnTo>
                  <a:cubicBezTo>
                    <a:pt x="409" y="21600"/>
                    <a:pt x="267" y="21563"/>
                    <a:pt x="163" y="21497"/>
                  </a:cubicBezTo>
                  <a:cubicBezTo>
                    <a:pt x="59" y="21431"/>
                    <a:pt x="0" y="21342"/>
                    <a:pt x="0" y="21249"/>
                  </a:cubicBezTo>
                  <a:lnTo>
                    <a:pt x="0" y="351"/>
                  </a:lnTo>
                  <a:cubicBezTo>
                    <a:pt x="0" y="258"/>
                    <a:pt x="59" y="169"/>
                    <a:pt x="163" y="103"/>
                  </a:cubicBezTo>
                  <a:cubicBezTo>
                    <a:pt x="267" y="37"/>
                    <a:pt x="409" y="0"/>
                    <a:pt x="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spcBef>
                  <a:spcPts val="1200"/>
                </a:spcBef>
                <a:defRPr b="1" sz="28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Step 1: Get Landmark Coordinates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p1 = (100, 150)  ← Left corner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p2 = (150, 120)  ← Top left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p3 = (200, 110)  ← Top middle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p4 = (300, 150)  ← Right corner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p5 = (200, 190)  ← Bottom middle</a:t>
              </a:r>
            </a:p>
            <a:p>
              <a:pPr defTabSz="457200">
                <a:defRPr sz="28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p6 = (250, 180)  ← Bottom right</a:t>
              </a:r>
            </a:p>
          </p:txBody>
        </p:sp>
        <p:pic>
          <p:nvPicPr>
            <p:cNvPr id="214" name="Freeform 8" descr="Freeform 8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6176973" cy="4052478"/>
            </a:xfrm>
            <a:prstGeom prst="rect">
              <a:avLst/>
            </a:prstGeom>
            <a:effectLst/>
          </p:spPr>
        </p:pic>
      </p:grpSp>
      <p:grpSp>
        <p:nvGrpSpPr>
          <p:cNvPr id="219" name="Freeform 8"/>
          <p:cNvGrpSpPr/>
          <p:nvPr/>
        </p:nvGrpSpPr>
        <p:grpSpPr>
          <a:xfrm>
            <a:off x="7255303" y="2819375"/>
            <a:ext cx="6203648" cy="3873650"/>
            <a:chOff x="0" y="0"/>
            <a:chExt cx="6203647" cy="3873648"/>
          </a:xfrm>
        </p:grpSpPr>
        <p:sp>
          <p:nvSpPr>
            <p:cNvPr id="218" name="Freeform 8"/>
            <p:cNvSpPr/>
            <p:nvPr/>
          </p:nvSpPr>
          <p:spPr>
            <a:xfrm>
              <a:off x="38100" y="38100"/>
              <a:ext cx="6127448" cy="3797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56" y="0"/>
                  </a:moveTo>
                  <a:lnTo>
                    <a:pt x="21044" y="0"/>
                  </a:lnTo>
                  <a:cubicBezTo>
                    <a:pt x="21191" y="0"/>
                    <a:pt x="21333" y="37"/>
                    <a:pt x="21437" y="103"/>
                  </a:cubicBezTo>
                  <a:cubicBezTo>
                    <a:pt x="21541" y="169"/>
                    <a:pt x="21600" y="258"/>
                    <a:pt x="21600" y="351"/>
                  </a:cubicBezTo>
                  <a:lnTo>
                    <a:pt x="21600" y="21249"/>
                  </a:lnTo>
                  <a:cubicBezTo>
                    <a:pt x="21600" y="21342"/>
                    <a:pt x="21541" y="21431"/>
                    <a:pt x="21437" y="21497"/>
                  </a:cubicBezTo>
                  <a:cubicBezTo>
                    <a:pt x="21333" y="21563"/>
                    <a:pt x="21191" y="21600"/>
                    <a:pt x="21044" y="21600"/>
                  </a:cubicBezTo>
                  <a:lnTo>
                    <a:pt x="556" y="21600"/>
                  </a:lnTo>
                  <a:cubicBezTo>
                    <a:pt x="409" y="21600"/>
                    <a:pt x="267" y="21563"/>
                    <a:pt x="163" y="21497"/>
                  </a:cubicBezTo>
                  <a:cubicBezTo>
                    <a:pt x="59" y="21431"/>
                    <a:pt x="0" y="21342"/>
                    <a:pt x="0" y="21249"/>
                  </a:cubicBezTo>
                  <a:lnTo>
                    <a:pt x="0" y="351"/>
                  </a:lnTo>
                  <a:cubicBezTo>
                    <a:pt x="0" y="258"/>
                    <a:pt x="59" y="169"/>
                    <a:pt x="163" y="103"/>
                  </a:cubicBezTo>
                  <a:cubicBezTo>
                    <a:pt x="267" y="37"/>
                    <a:pt x="409" y="0"/>
                    <a:pt x="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spcBef>
                  <a:spcPts val="1200"/>
                </a:spcBef>
                <a:defRPr b="1" sz="25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Step 2: Calculate Distances (Euclidean)</a:t>
              </a:r>
            </a:p>
            <a:p>
              <a:pPr defTabSz="457200">
                <a:defRPr sz="25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||p2 - p6|| = √[(250-150)² + (180-120)²] = 116.6 pixels</a:t>
              </a:r>
            </a:p>
            <a:p>
              <a:pPr defTabSz="457200">
                <a:defRPr sz="25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||p3 - p5|| = √[(200-200)² + (190-110)²] = 80 pixels</a:t>
              </a:r>
            </a:p>
            <a:p>
              <a:pPr defTabSz="457200">
                <a:defRPr sz="25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||p1 - p4|| = √[(300-100)² + (150-150)²] = 200 pixels</a:t>
              </a:r>
            </a:p>
          </p:txBody>
        </p:sp>
        <p:pic>
          <p:nvPicPr>
            <p:cNvPr id="217" name="Freeform 8" descr="Freeform 8"/>
            <p:cNvPicPr>
              <a:picLocks noChangeAspect="0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6203648" cy="3873649"/>
            </a:xfrm>
            <a:prstGeom prst="rect">
              <a:avLst/>
            </a:prstGeom>
            <a:effectLst/>
          </p:spPr>
        </p:pic>
      </p:grpSp>
      <p:grpSp>
        <p:nvGrpSpPr>
          <p:cNvPr id="222" name="Freeform 8"/>
          <p:cNvGrpSpPr/>
          <p:nvPr/>
        </p:nvGrpSpPr>
        <p:grpSpPr>
          <a:xfrm>
            <a:off x="889113" y="6885836"/>
            <a:ext cx="7848329" cy="1433934"/>
            <a:chOff x="0" y="0"/>
            <a:chExt cx="7848328" cy="1433933"/>
          </a:xfrm>
        </p:grpSpPr>
        <p:sp>
          <p:nvSpPr>
            <p:cNvPr id="221" name="Freeform 8"/>
            <p:cNvSpPr/>
            <p:nvPr/>
          </p:nvSpPr>
          <p:spPr>
            <a:xfrm>
              <a:off x="38100" y="38100"/>
              <a:ext cx="7772129" cy="13577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56" y="0"/>
                  </a:moveTo>
                  <a:lnTo>
                    <a:pt x="21044" y="0"/>
                  </a:lnTo>
                  <a:cubicBezTo>
                    <a:pt x="21191" y="0"/>
                    <a:pt x="21333" y="37"/>
                    <a:pt x="21437" y="103"/>
                  </a:cubicBezTo>
                  <a:cubicBezTo>
                    <a:pt x="21541" y="169"/>
                    <a:pt x="21600" y="258"/>
                    <a:pt x="21600" y="351"/>
                  </a:cubicBezTo>
                  <a:lnTo>
                    <a:pt x="21600" y="21249"/>
                  </a:lnTo>
                  <a:cubicBezTo>
                    <a:pt x="21600" y="21342"/>
                    <a:pt x="21541" y="21431"/>
                    <a:pt x="21437" y="21497"/>
                  </a:cubicBezTo>
                  <a:cubicBezTo>
                    <a:pt x="21333" y="21563"/>
                    <a:pt x="21191" y="21600"/>
                    <a:pt x="21044" y="21600"/>
                  </a:cubicBezTo>
                  <a:lnTo>
                    <a:pt x="556" y="21600"/>
                  </a:lnTo>
                  <a:cubicBezTo>
                    <a:pt x="409" y="21600"/>
                    <a:pt x="267" y="21563"/>
                    <a:pt x="163" y="21497"/>
                  </a:cubicBezTo>
                  <a:cubicBezTo>
                    <a:pt x="59" y="21431"/>
                    <a:pt x="0" y="21342"/>
                    <a:pt x="0" y="21249"/>
                  </a:cubicBezTo>
                  <a:lnTo>
                    <a:pt x="0" y="351"/>
                  </a:lnTo>
                  <a:cubicBezTo>
                    <a:pt x="0" y="258"/>
                    <a:pt x="59" y="169"/>
                    <a:pt x="163" y="103"/>
                  </a:cubicBezTo>
                  <a:cubicBezTo>
                    <a:pt x="267" y="37"/>
                    <a:pt x="409" y="0"/>
                    <a:pt x="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spcBef>
                  <a:spcPts val="1200"/>
                </a:spcBef>
                <a:defRPr b="1" sz="25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Step 3: Apply EAR Formula</a:t>
              </a:r>
            </a:p>
            <a:p>
              <a:pPr defTabSz="457200">
                <a:defRPr sz="2500">
                  <a:effectLst>
                    <a:outerShdw sx="100000" sy="100000" kx="0" ky="0" algn="b" rotWithShape="0" blurRad="0" dist="12700" dir="16200000">
                      <a:srgbClr val="000000">
                        <a:alpha val="0"/>
                      </a:srgbClr>
                    </a:outerShdw>
                  </a:effectLst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EAR = (116.6 + 80) / (2 × 200) = 196.6 / 400 = 0.49</a:t>
              </a:r>
            </a:p>
          </p:txBody>
        </p:sp>
        <p:pic>
          <p:nvPicPr>
            <p:cNvPr id="220" name="Freeform 8" descr="Freeform 8"/>
            <p:cNvPicPr>
              <a:picLocks noChangeAspect="0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7848329" cy="1433934"/>
            </a:xfrm>
            <a:prstGeom prst="rect">
              <a:avLst/>
            </a:prstGeom>
            <a:effectLst/>
          </p:spPr>
        </p:pic>
      </p:grpSp>
      <p:pic>
        <p:nvPicPr>
          <p:cNvPr id="223" name="Arrow Arrow" descr="Arrow Arrow"/>
          <p:cNvPicPr>
            <a:picLocks noChangeAspect="0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4892184" y="8500610"/>
            <a:ext cx="2184798" cy="555238"/>
          </a:xfrm>
          <a:prstGeom prst="rect">
            <a:avLst/>
          </a:prstGeom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224" name="NOTE:SAME APPLIES FOR MAR"/>
          <p:cNvSpPr txBox="1"/>
          <p:nvPr/>
        </p:nvSpPr>
        <p:spPr>
          <a:xfrm>
            <a:off x="930904" y="8495757"/>
            <a:ext cx="4841508" cy="493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600">
                <a:latin typeface="Chalkboard"/>
                <a:ea typeface="Chalkboard"/>
                <a:cs typeface="Chalkboard"/>
                <a:sym typeface="Chalkboard"/>
              </a:defRPr>
            </a:pPr>
            <a:r>
              <a:rPr u="sng"/>
              <a:t>NOTE</a:t>
            </a:r>
            <a:r>
              <a:t>:SAME APPLIES FOR MAR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reeform 2"/>
          <p:cNvSpPr/>
          <p:nvPr/>
        </p:nvSpPr>
        <p:spPr>
          <a:xfrm>
            <a:off x="-138153" y="129698"/>
            <a:ext cx="18288001" cy="1028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D</a:t>
            </a:r>
          </a:p>
        </p:txBody>
      </p:sp>
      <p:sp>
        <p:nvSpPr>
          <p:cNvPr id="227" name="Freeform 4"/>
          <p:cNvSpPr/>
          <p:nvPr/>
        </p:nvSpPr>
        <p:spPr>
          <a:xfrm>
            <a:off x="0" y="0"/>
            <a:ext cx="18287996" cy="10287001"/>
          </a:xfrm>
          <a:prstGeom prst="rect">
            <a:avLst/>
          </a:prstGeom>
          <a:solidFill>
            <a:srgbClr val="000000">
              <a:alpha val="0"/>
            </a:srgbClr>
          </a:solidFill>
          <a:ln w="657225" cap="sq">
            <a:solidFill>
              <a:srgbClr val="1E3F48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Demo"/>
          <p:cNvSpPr txBox="1"/>
          <p:nvPr/>
        </p:nvSpPr>
        <p:spPr>
          <a:xfrm>
            <a:off x="9030122" y="5106654"/>
            <a:ext cx="66168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Demo</a:t>
            </a:r>
          </a:p>
        </p:txBody>
      </p:sp>
      <p:pic>
        <p:nvPicPr>
          <p:cNvPr id="229" name="visual selection.png" descr="visual selection.png"/>
          <p:cNvPicPr>
            <a:picLocks noChangeAspect="1"/>
          </p:cNvPicPr>
          <p:nvPr/>
        </p:nvPicPr>
        <p:blipFill>
          <a:blip r:embed="rId2">
            <a:extLst/>
          </a:blip>
          <a:srcRect l="5141" t="3116" r="7277" b="6773"/>
          <a:stretch>
            <a:fillRect/>
          </a:stretch>
        </p:blipFill>
        <p:spPr>
          <a:xfrm>
            <a:off x="398063" y="149820"/>
            <a:ext cx="9769969" cy="97876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Freeform 8"/>
          <p:cNvGrpSpPr/>
          <p:nvPr/>
        </p:nvGrpSpPr>
        <p:grpSpPr>
          <a:xfrm>
            <a:off x="9749660" y="2362813"/>
            <a:ext cx="8093463" cy="1858168"/>
            <a:chOff x="0" y="0"/>
            <a:chExt cx="8093462" cy="1858166"/>
          </a:xfrm>
        </p:grpSpPr>
        <p:sp>
          <p:nvSpPr>
            <p:cNvPr id="231" name="Freeform 8"/>
            <p:cNvSpPr/>
            <p:nvPr/>
          </p:nvSpPr>
          <p:spPr>
            <a:xfrm>
              <a:off x="53881" y="53881"/>
              <a:ext cx="7985700" cy="1750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56" y="0"/>
                  </a:moveTo>
                  <a:lnTo>
                    <a:pt x="21044" y="0"/>
                  </a:lnTo>
                  <a:cubicBezTo>
                    <a:pt x="21191" y="0"/>
                    <a:pt x="21333" y="37"/>
                    <a:pt x="21437" y="103"/>
                  </a:cubicBezTo>
                  <a:cubicBezTo>
                    <a:pt x="21541" y="169"/>
                    <a:pt x="21600" y="258"/>
                    <a:pt x="21600" y="351"/>
                  </a:cubicBezTo>
                  <a:lnTo>
                    <a:pt x="21600" y="21249"/>
                  </a:lnTo>
                  <a:cubicBezTo>
                    <a:pt x="21600" y="21342"/>
                    <a:pt x="21541" y="21431"/>
                    <a:pt x="21437" y="21497"/>
                  </a:cubicBezTo>
                  <a:cubicBezTo>
                    <a:pt x="21333" y="21563"/>
                    <a:pt x="21191" y="21600"/>
                    <a:pt x="21044" y="21600"/>
                  </a:cubicBezTo>
                  <a:lnTo>
                    <a:pt x="556" y="21600"/>
                  </a:lnTo>
                  <a:cubicBezTo>
                    <a:pt x="409" y="21600"/>
                    <a:pt x="267" y="21563"/>
                    <a:pt x="163" y="21497"/>
                  </a:cubicBezTo>
                  <a:cubicBezTo>
                    <a:pt x="59" y="21431"/>
                    <a:pt x="0" y="21342"/>
                    <a:pt x="0" y="21249"/>
                  </a:cubicBezTo>
                  <a:lnTo>
                    <a:pt x="0" y="351"/>
                  </a:lnTo>
                  <a:cubicBezTo>
                    <a:pt x="0" y="258"/>
                    <a:pt x="59" y="169"/>
                    <a:pt x="163" y="103"/>
                  </a:cubicBezTo>
                  <a:cubicBezTo>
                    <a:pt x="267" y="37"/>
                    <a:pt x="409" y="0"/>
                    <a:pt x="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28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Processing Time: &lt;33ms per frame</a:t>
              </a:r>
            </a:p>
            <a:p>
              <a:pPr defTabSz="457200">
                <a:defRPr sz="2800">
                  <a:latin typeface="Chalkboard"/>
                  <a:ea typeface="Chalkboard"/>
                  <a:cs typeface="Chalkboard"/>
                  <a:sym typeface="Chalkboard"/>
                </a:defRPr>
              </a:pPr>
              <a:r>
                <a:t>Euclidean Calculations: 12 per frame × 30 FPS = 360/second</a:t>
              </a:r>
            </a:p>
          </p:txBody>
        </p:sp>
        <p:pic>
          <p:nvPicPr>
            <p:cNvPr id="230" name="Freeform 8" descr="Freeform 8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8093464" cy="1858167"/>
            </a:xfrm>
            <a:prstGeom prst="rect">
              <a:avLst/>
            </a:prstGeom>
            <a:effectLst/>
          </p:spPr>
        </p:pic>
      </p:grpSp>
      <p:sp>
        <p:nvSpPr>
          <p:cNvPr id="233" name="Flow:"/>
          <p:cNvSpPr txBox="1"/>
          <p:nvPr/>
        </p:nvSpPr>
        <p:spPr>
          <a:xfrm>
            <a:off x="384409" y="260147"/>
            <a:ext cx="1907350" cy="933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200">
                <a:solidFill>
                  <a:srgbClr val="FFFFFF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Flow:</a:t>
            </a:r>
          </a:p>
        </p:txBody>
      </p:sp>
      <p:sp>
        <p:nvSpPr>
          <p:cNvPr id="234" name="DEMO"/>
          <p:cNvSpPr txBox="1"/>
          <p:nvPr/>
        </p:nvSpPr>
        <p:spPr>
          <a:xfrm>
            <a:off x="12945176" y="8676326"/>
            <a:ext cx="2028977" cy="933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200">
                <a:solidFill>
                  <a:srgbClr val="FFFFFF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235" name="Arrow"/>
          <p:cNvSpPr/>
          <p:nvPr/>
        </p:nvSpPr>
        <p:spPr>
          <a:xfrm>
            <a:off x="15026047" y="8794677"/>
            <a:ext cx="2177439" cy="696882"/>
          </a:xfrm>
          <a:prstGeom prst="rightArrow">
            <a:avLst>
              <a:gd name="adj1" fmla="val 32000"/>
              <a:gd name="adj2" fmla="val 116634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236" name="Freeform 6"/>
          <p:cNvSpPr/>
          <p:nvPr/>
        </p:nvSpPr>
        <p:spPr>
          <a:xfrm>
            <a:off x="16459079" y="402113"/>
            <a:ext cx="1327828" cy="151515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Freeform 5"/>
          <p:cNvSpPr/>
          <p:nvPr/>
        </p:nvSpPr>
        <p:spPr>
          <a:xfrm>
            <a:off x="11256001" y="8281339"/>
            <a:ext cx="1407049" cy="1723557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reeform 2"/>
          <p:cNvSpPr/>
          <p:nvPr/>
        </p:nvSpPr>
        <p:spPr>
          <a:xfrm>
            <a:off x="-1" y="-1"/>
            <a:ext cx="18288001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Freeform 5"/>
          <p:cNvSpPr/>
          <p:nvPr/>
        </p:nvSpPr>
        <p:spPr>
          <a:xfrm rot="93123">
            <a:off x="1897558" y="3281266"/>
            <a:ext cx="3283875" cy="51224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4" y="0"/>
                </a:moveTo>
                <a:lnTo>
                  <a:pt x="21246" y="0"/>
                </a:lnTo>
                <a:cubicBezTo>
                  <a:pt x="21441" y="0"/>
                  <a:pt x="21600" y="102"/>
                  <a:pt x="21600" y="227"/>
                </a:cubicBezTo>
                <a:lnTo>
                  <a:pt x="21600" y="21373"/>
                </a:lnTo>
                <a:cubicBezTo>
                  <a:pt x="21600" y="21498"/>
                  <a:pt x="21441" y="21600"/>
                  <a:pt x="21246" y="21600"/>
                </a:cubicBezTo>
                <a:lnTo>
                  <a:pt x="354" y="21600"/>
                </a:lnTo>
                <a:cubicBezTo>
                  <a:pt x="159" y="21600"/>
                  <a:pt x="0" y="21498"/>
                  <a:pt x="0" y="21373"/>
                </a:cubicBezTo>
                <a:lnTo>
                  <a:pt x="0" y="227"/>
                </a:lnTo>
                <a:cubicBezTo>
                  <a:pt x="0" y="102"/>
                  <a:pt x="159" y="0"/>
                  <a:pt x="354" y="0"/>
                </a:cubicBezTo>
                <a:close/>
              </a:path>
            </a:pathLst>
          </a:custGeom>
          <a:solidFill>
            <a:srgbClr val="000000">
              <a:alpha val="31765"/>
            </a:srgbClr>
          </a:solidFill>
          <a:ln w="38100" cap="sq">
            <a:solidFill>
              <a:srgbClr val="000000">
                <a:alpha val="3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Freeform 8"/>
          <p:cNvSpPr/>
          <p:nvPr/>
        </p:nvSpPr>
        <p:spPr>
          <a:xfrm>
            <a:off x="1795706" y="3150740"/>
            <a:ext cx="3283875" cy="5202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6" y="0"/>
                </a:moveTo>
                <a:lnTo>
                  <a:pt x="21044" y="0"/>
                </a:lnTo>
                <a:cubicBezTo>
                  <a:pt x="21191" y="0"/>
                  <a:pt x="21333" y="37"/>
                  <a:pt x="21437" y="103"/>
                </a:cubicBezTo>
                <a:cubicBezTo>
                  <a:pt x="21541" y="169"/>
                  <a:pt x="21600" y="258"/>
                  <a:pt x="21600" y="351"/>
                </a:cubicBezTo>
                <a:lnTo>
                  <a:pt x="21600" y="21249"/>
                </a:lnTo>
                <a:cubicBezTo>
                  <a:pt x="21600" y="21342"/>
                  <a:pt x="21541" y="21431"/>
                  <a:pt x="21437" y="21497"/>
                </a:cubicBezTo>
                <a:cubicBezTo>
                  <a:pt x="21333" y="21563"/>
                  <a:pt x="21191" y="21600"/>
                  <a:pt x="21044" y="21600"/>
                </a:cubicBezTo>
                <a:lnTo>
                  <a:pt x="556" y="21600"/>
                </a:lnTo>
                <a:cubicBezTo>
                  <a:pt x="409" y="21600"/>
                  <a:pt x="267" y="21563"/>
                  <a:pt x="163" y="21497"/>
                </a:cubicBezTo>
                <a:cubicBezTo>
                  <a:pt x="59" y="21431"/>
                  <a:pt x="0" y="21342"/>
                  <a:pt x="0" y="21249"/>
                </a:cubicBezTo>
                <a:lnTo>
                  <a:pt x="0" y="351"/>
                </a:lnTo>
                <a:cubicBezTo>
                  <a:pt x="0" y="258"/>
                  <a:pt x="59" y="169"/>
                  <a:pt x="163" y="103"/>
                </a:cubicBezTo>
                <a:cubicBezTo>
                  <a:pt x="267" y="37"/>
                  <a:pt x="409" y="0"/>
                  <a:pt x="556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Freeform 10"/>
          <p:cNvSpPr/>
          <p:nvPr/>
        </p:nvSpPr>
        <p:spPr>
          <a:xfrm rot="21521345">
            <a:off x="2561380" y="2939099"/>
            <a:ext cx="1752527" cy="38874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Freeform 11"/>
          <p:cNvSpPr/>
          <p:nvPr/>
        </p:nvSpPr>
        <p:spPr>
          <a:xfrm>
            <a:off x="6921065" y="6569803"/>
            <a:ext cx="4243481" cy="310664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Freeform 12"/>
          <p:cNvSpPr/>
          <p:nvPr/>
        </p:nvSpPr>
        <p:spPr>
          <a:xfrm>
            <a:off x="7502771" y="1662717"/>
            <a:ext cx="3795067" cy="4056666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</a:p>
        </p:txBody>
      </p:sp>
      <p:sp>
        <p:nvSpPr>
          <p:cNvPr id="245" name="Freeform 13"/>
          <p:cNvSpPr/>
          <p:nvPr/>
        </p:nvSpPr>
        <p:spPr>
          <a:xfrm rot="20600953">
            <a:off x="5166969" y="3969204"/>
            <a:ext cx="2287365" cy="77770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Freeform 14"/>
          <p:cNvSpPr/>
          <p:nvPr/>
        </p:nvSpPr>
        <p:spPr>
          <a:xfrm rot="2843482">
            <a:off x="5166969" y="6013813"/>
            <a:ext cx="2287366" cy="77770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Freeform 15"/>
          <p:cNvSpPr/>
          <p:nvPr/>
        </p:nvSpPr>
        <p:spPr>
          <a:xfrm>
            <a:off x="10889746" y="7973262"/>
            <a:ext cx="1894814" cy="29972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Freeform 18"/>
          <p:cNvSpPr/>
          <p:nvPr/>
        </p:nvSpPr>
        <p:spPr>
          <a:xfrm>
            <a:off x="12827322" y="3086093"/>
            <a:ext cx="4891889" cy="1803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" y="0"/>
                </a:moveTo>
                <a:lnTo>
                  <a:pt x="21532" y="0"/>
                </a:lnTo>
                <a:cubicBezTo>
                  <a:pt x="21550" y="0"/>
                  <a:pt x="21567" y="20"/>
                  <a:pt x="21580" y="56"/>
                </a:cubicBezTo>
                <a:cubicBezTo>
                  <a:pt x="21593" y="91"/>
                  <a:pt x="21600" y="140"/>
                  <a:pt x="21600" y="190"/>
                </a:cubicBezTo>
                <a:lnTo>
                  <a:pt x="21600" y="21410"/>
                </a:lnTo>
                <a:cubicBezTo>
                  <a:pt x="21600" y="21515"/>
                  <a:pt x="21570" y="21600"/>
                  <a:pt x="21532" y="21600"/>
                </a:cubicBezTo>
                <a:lnTo>
                  <a:pt x="68" y="21600"/>
                </a:lnTo>
                <a:cubicBezTo>
                  <a:pt x="50" y="21600"/>
                  <a:pt x="33" y="21580"/>
                  <a:pt x="20" y="21544"/>
                </a:cubicBezTo>
                <a:cubicBezTo>
                  <a:pt x="7" y="21509"/>
                  <a:pt x="0" y="21460"/>
                  <a:pt x="0" y="21410"/>
                </a:cubicBezTo>
                <a:lnTo>
                  <a:pt x="0" y="190"/>
                </a:lnTo>
                <a:cubicBezTo>
                  <a:pt x="0" y="85"/>
                  <a:pt x="30" y="0"/>
                  <a:pt x="68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lvl="3" indent="685800"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49" name="Freeform 25"/>
          <p:cNvSpPr/>
          <p:nvPr/>
        </p:nvSpPr>
        <p:spPr>
          <a:xfrm flipH="1" rot="18809559">
            <a:off x="11447967" y="3139074"/>
            <a:ext cx="1227369" cy="1103952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Freeform 27"/>
          <p:cNvSpPr/>
          <p:nvPr/>
        </p:nvSpPr>
        <p:spPr>
          <a:xfrm>
            <a:off x="2248238" y="6402664"/>
            <a:ext cx="2378809" cy="1414133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Box 28"/>
          <p:cNvSpPr txBox="1"/>
          <p:nvPr/>
        </p:nvSpPr>
        <p:spPr>
          <a:xfrm>
            <a:off x="1836605" y="4540951"/>
            <a:ext cx="3202076" cy="1644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8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Improvements &amp; Future Work (Real-World &amp; Practical)</a:t>
            </a:r>
          </a:p>
        </p:txBody>
      </p:sp>
      <p:sp>
        <p:nvSpPr>
          <p:cNvPr id="252" name="Improvements"/>
          <p:cNvSpPr txBox="1"/>
          <p:nvPr/>
        </p:nvSpPr>
        <p:spPr>
          <a:xfrm>
            <a:off x="7612459" y="1060560"/>
            <a:ext cx="4032585" cy="757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41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Improvements</a:t>
            </a:r>
          </a:p>
        </p:txBody>
      </p:sp>
      <p:sp>
        <p:nvSpPr>
          <p:cNvPr id="253" name="Mount a small camera module on the vehicle dashboard or rear-view mirror for stable and continuous face  monitoring."/>
          <p:cNvSpPr txBox="1"/>
          <p:nvPr/>
        </p:nvSpPr>
        <p:spPr>
          <a:xfrm>
            <a:off x="12244910" y="3118499"/>
            <a:ext cx="5543027" cy="173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3" indent="685800" defTabSz="457200">
              <a:defRPr b="1" sz="2200">
                <a:latin typeface="Chalkboard"/>
                <a:ea typeface="Chalkboard"/>
                <a:cs typeface="Chalkboard"/>
                <a:sym typeface="Chalkboard"/>
              </a:defRPr>
            </a:pPr>
            <a:r>
              <a:rPr b="0"/>
              <a:t>Mount a </a:t>
            </a:r>
            <a:r>
              <a:t>small camera module on the vehicle dashboard or rear-view mirror</a:t>
            </a:r>
            <a:r>
              <a:rPr b="0"/>
              <a:t> for stable and continuous face  monitoring.</a:t>
            </a:r>
          </a:p>
        </p:txBody>
      </p:sp>
      <p:sp>
        <p:nvSpPr>
          <p:cNvPr id="254" name="Future Works"/>
          <p:cNvSpPr txBox="1"/>
          <p:nvPr/>
        </p:nvSpPr>
        <p:spPr>
          <a:xfrm>
            <a:off x="7127707" y="6023847"/>
            <a:ext cx="4032585" cy="757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4100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Future Works</a:t>
            </a:r>
          </a:p>
        </p:txBody>
      </p:sp>
      <p:sp>
        <p:nvSpPr>
          <p:cNvPr id="255" name="Freeform 18"/>
          <p:cNvSpPr/>
          <p:nvPr/>
        </p:nvSpPr>
        <p:spPr>
          <a:xfrm>
            <a:off x="12827322" y="7221350"/>
            <a:ext cx="4891889" cy="1803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" y="0"/>
                </a:moveTo>
                <a:lnTo>
                  <a:pt x="21532" y="0"/>
                </a:lnTo>
                <a:cubicBezTo>
                  <a:pt x="21550" y="0"/>
                  <a:pt x="21567" y="20"/>
                  <a:pt x="21580" y="56"/>
                </a:cubicBezTo>
                <a:cubicBezTo>
                  <a:pt x="21593" y="91"/>
                  <a:pt x="21600" y="140"/>
                  <a:pt x="21600" y="190"/>
                </a:cubicBezTo>
                <a:lnTo>
                  <a:pt x="21600" y="21410"/>
                </a:lnTo>
                <a:cubicBezTo>
                  <a:pt x="21600" y="21515"/>
                  <a:pt x="21570" y="21600"/>
                  <a:pt x="21532" y="21600"/>
                </a:cubicBezTo>
                <a:lnTo>
                  <a:pt x="68" y="21600"/>
                </a:lnTo>
                <a:cubicBezTo>
                  <a:pt x="50" y="21600"/>
                  <a:pt x="33" y="21580"/>
                  <a:pt x="20" y="21544"/>
                </a:cubicBezTo>
                <a:cubicBezTo>
                  <a:pt x="7" y="21509"/>
                  <a:pt x="0" y="21460"/>
                  <a:pt x="0" y="21410"/>
                </a:cubicBezTo>
                <a:lnTo>
                  <a:pt x="0" y="190"/>
                </a:lnTo>
                <a:cubicBezTo>
                  <a:pt x="0" y="85"/>
                  <a:pt x="30" y="0"/>
                  <a:pt x="68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lvl="3" indent="685800"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56" name="Develop a compact hardware unit that can be attached near the driver’s mirror for real-time alerts."/>
          <p:cNvSpPr txBox="1"/>
          <p:nvPr/>
        </p:nvSpPr>
        <p:spPr>
          <a:xfrm>
            <a:off x="7453875" y="6688098"/>
            <a:ext cx="2919099" cy="260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400">
                <a:latin typeface="Chalkboard"/>
                <a:ea typeface="Chalkboard"/>
                <a:cs typeface="Chalkboard"/>
                <a:sym typeface="Chalkboard"/>
              </a:defRPr>
            </a:pPr>
            <a:r>
              <a:t>Develop a </a:t>
            </a:r>
            <a:r>
              <a:rPr b="1"/>
              <a:t>compact hardware unit</a:t>
            </a:r>
            <a:r>
              <a:t> that can be attached near the driver’s mirror for real-time alerts.</a:t>
            </a:r>
          </a:p>
        </p:txBody>
      </p:sp>
      <p:sp>
        <p:nvSpPr>
          <p:cNvPr id="257" name="Add LED or vibration feedback to warn the driver instantly without distracting them."/>
          <p:cNvSpPr txBox="1"/>
          <p:nvPr/>
        </p:nvSpPr>
        <p:spPr>
          <a:xfrm>
            <a:off x="12995539" y="7297782"/>
            <a:ext cx="4962969" cy="138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500">
                <a:latin typeface="Chalkboard"/>
                <a:ea typeface="Chalkboard"/>
                <a:cs typeface="Chalkboard"/>
                <a:sym typeface="Chalkboard"/>
              </a:defRPr>
            </a:pPr>
            <a:r>
              <a:t>Add </a:t>
            </a:r>
            <a:r>
              <a:rPr b="1"/>
              <a:t>LED or vibration feedback</a:t>
            </a:r>
            <a:r>
              <a:t> to warn the driver instantly without distracting them.</a:t>
            </a:r>
          </a:p>
        </p:txBody>
      </p:sp>
      <p:sp>
        <p:nvSpPr>
          <p:cNvPr id="258" name="Integrate the system with an Arduino-based alert module to trigger a buzzer or vibration motor when drowsiness is detected."/>
          <p:cNvSpPr txBox="1"/>
          <p:nvPr/>
        </p:nvSpPr>
        <p:spPr>
          <a:xfrm>
            <a:off x="7695203" y="2658038"/>
            <a:ext cx="3410203" cy="252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300">
                <a:latin typeface="Chalkboard"/>
                <a:ea typeface="Chalkboard"/>
                <a:cs typeface="Chalkboard"/>
                <a:sym typeface="Chalkboard"/>
              </a:defRPr>
            </a:pPr>
            <a:r>
              <a:t>Integrate the system with an </a:t>
            </a:r>
            <a:r>
              <a:rPr b="1"/>
              <a:t>Arduino-based alert module</a:t>
            </a:r>
            <a:r>
              <a:t> to trigger a buzzer or vibration motor when drowsiness is detected.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Freeform 2"/>
          <p:cNvSpPr/>
          <p:nvPr/>
        </p:nvSpPr>
        <p:spPr>
          <a:xfrm>
            <a:off x="146028" y="-1"/>
            <a:ext cx="18288001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Freeform 4"/>
          <p:cNvSpPr/>
          <p:nvPr/>
        </p:nvSpPr>
        <p:spPr>
          <a:xfrm>
            <a:off x="197611" y="1912673"/>
            <a:ext cx="5214599" cy="34836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6" y="0"/>
                </a:moveTo>
                <a:lnTo>
                  <a:pt x="21044" y="0"/>
                </a:lnTo>
                <a:cubicBezTo>
                  <a:pt x="21191" y="0"/>
                  <a:pt x="21333" y="47"/>
                  <a:pt x="21437" y="131"/>
                </a:cubicBezTo>
                <a:cubicBezTo>
                  <a:pt x="21541" y="214"/>
                  <a:pt x="21600" y="328"/>
                  <a:pt x="21600" y="446"/>
                </a:cubicBezTo>
                <a:lnTo>
                  <a:pt x="21600" y="21154"/>
                </a:lnTo>
                <a:cubicBezTo>
                  <a:pt x="21600" y="21400"/>
                  <a:pt x="21351" y="21600"/>
                  <a:pt x="21044" y="21600"/>
                </a:cubicBezTo>
                <a:lnTo>
                  <a:pt x="556" y="21600"/>
                </a:lnTo>
                <a:cubicBezTo>
                  <a:pt x="249" y="21600"/>
                  <a:pt x="0" y="21400"/>
                  <a:pt x="0" y="21154"/>
                </a:cubicBezTo>
                <a:lnTo>
                  <a:pt x="0" y="446"/>
                </a:lnTo>
                <a:cubicBezTo>
                  <a:pt x="0" y="328"/>
                  <a:pt x="59" y="214"/>
                  <a:pt x="163" y="131"/>
                </a:cubicBezTo>
                <a:cubicBezTo>
                  <a:pt x="267" y="47"/>
                  <a:pt x="409" y="0"/>
                  <a:pt x="556" y="0"/>
                </a:cubicBezTo>
                <a:close/>
              </a:path>
            </a:pathLst>
          </a:custGeom>
          <a:solidFill>
            <a:srgbClr val="FFFFFF"/>
          </a:solidFill>
          <a:ln w="66675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Freeform 7"/>
          <p:cNvSpPr/>
          <p:nvPr/>
        </p:nvSpPr>
        <p:spPr>
          <a:xfrm>
            <a:off x="4946" y="759252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Freeform 14"/>
          <p:cNvSpPr/>
          <p:nvPr/>
        </p:nvSpPr>
        <p:spPr>
          <a:xfrm rot="21595752">
            <a:off x="5684625" y="4610447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Freeform 17"/>
          <p:cNvSpPr/>
          <p:nvPr/>
        </p:nvSpPr>
        <p:spPr>
          <a:xfrm>
            <a:off x="11902757" y="2803472"/>
            <a:ext cx="5729952" cy="3042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6" y="0"/>
                </a:moveTo>
                <a:lnTo>
                  <a:pt x="21044" y="0"/>
                </a:lnTo>
                <a:cubicBezTo>
                  <a:pt x="21191" y="0"/>
                  <a:pt x="21333" y="47"/>
                  <a:pt x="21437" y="131"/>
                </a:cubicBezTo>
                <a:cubicBezTo>
                  <a:pt x="21541" y="214"/>
                  <a:pt x="21600" y="328"/>
                  <a:pt x="21600" y="446"/>
                </a:cubicBezTo>
                <a:lnTo>
                  <a:pt x="21600" y="21154"/>
                </a:lnTo>
                <a:cubicBezTo>
                  <a:pt x="21600" y="21400"/>
                  <a:pt x="21351" y="21600"/>
                  <a:pt x="21044" y="21600"/>
                </a:cubicBezTo>
                <a:lnTo>
                  <a:pt x="556" y="21600"/>
                </a:lnTo>
                <a:cubicBezTo>
                  <a:pt x="249" y="21600"/>
                  <a:pt x="0" y="21400"/>
                  <a:pt x="0" y="21154"/>
                </a:cubicBezTo>
                <a:lnTo>
                  <a:pt x="0" y="446"/>
                </a:lnTo>
                <a:cubicBezTo>
                  <a:pt x="0" y="328"/>
                  <a:pt x="59" y="214"/>
                  <a:pt x="163" y="131"/>
                </a:cubicBezTo>
                <a:cubicBezTo>
                  <a:pt x="267" y="47"/>
                  <a:pt x="409" y="0"/>
                  <a:pt x="556" y="0"/>
                </a:cubicBezTo>
                <a:close/>
              </a:path>
            </a:pathLst>
          </a:custGeom>
          <a:solidFill>
            <a:srgbClr val="FFFFFF"/>
          </a:solidFill>
          <a:ln w="66675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Freeform 20"/>
          <p:cNvSpPr/>
          <p:nvPr/>
        </p:nvSpPr>
        <p:spPr>
          <a:xfrm>
            <a:off x="12039066" y="1598315"/>
            <a:ext cx="1066106" cy="1066106"/>
          </a:xfrm>
          <a:prstGeom prst="ellipse">
            <a:avLst/>
          </a:prstGeom>
          <a:solidFill>
            <a:srgbClr val="01070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Freeform 24"/>
          <p:cNvSpPr/>
          <p:nvPr/>
        </p:nvSpPr>
        <p:spPr>
          <a:xfrm>
            <a:off x="-2154840" y="5483633"/>
            <a:ext cx="6367079" cy="533593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Freeform 25"/>
          <p:cNvSpPr/>
          <p:nvPr/>
        </p:nvSpPr>
        <p:spPr>
          <a:xfrm>
            <a:off x="14076255" y="7189951"/>
            <a:ext cx="5261409" cy="330990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Box 26"/>
          <p:cNvSpPr txBox="1"/>
          <p:nvPr/>
        </p:nvSpPr>
        <p:spPr>
          <a:xfrm>
            <a:off x="5993324" y="79776"/>
            <a:ext cx="5990507" cy="1163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8800"/>
              </a:lnSpc>
              <a:defRPr b="1" sz="7500">
                <a:solidFill>
                  <a:srgbClr val="01070A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/>
            <a:r>
              <a:t>Conclusions</a:t>
            </a:r>
          </a:p>
        </p:txBody>
      </p:sp>
      <p:sp>
        <p:nvSpPr>
          <p:cNvPr id="269" name="TextBox 28"/>
          <p:cNvSpPr txBox="1"/>
          <p:nvPr/>
        </p:nvSpPr>
        <p:spPr>
          <a:xfrm>
            <a:off x="-56781" y="844358"/>
            <a:ext cx="1214959" cy="797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500"/>
              </a:lnSpc>
              <a:defRPr sz="4700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70" name="TextBox 30"/>
          <p:cNvSpPr txBox="1"/>
          <p:nvPr/>
        </p:nvSpPr>
        <p:spPr>
          <a:xfrm>
            <a:off x="5692454" y="4707713"/>
            <a:ext cx="999651" cy="797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500"/>
              </a:lnSpc>
              <a:defRPr sz="4700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71" name="TextBox 32"/>
          <p:cNvSpPr txBox="1"/>
          <p:nvPr/>
        </p:nvSpPr>
        <p:spPr>
          <a:xfrm>
            <a:off x="12072294" y="1712226"/>
            <a:ext cx="999651" cy="797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500"/>
              </a:lnSpc>
              <a:defRPr sz="4700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72" name="Detects driver drowsiness using computer vision and basic mathematics.…"/>
          <p:cNvSpPr txBox="1"/>
          <p:nvPr/>
        </p:nvSpPr>
        <p:spPr>
          <a:xfrm>
            <a:off x="282051" y="1887521"/>
            <a:ext cx="4596722" cy="3350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763" indent="-290763" defTabSz="457200">
              <a:spcBef>
                <a:spcPts val="1200"/>
              </a:spcBef>
              <a:buSzPct val="100000"/>
              <a:buChar char="•"/>
              <a:defRPr sz="2800">
                <a:latin typeface="Chalkboard"/>
                <a:ea typeface="Chalkboard"/>
                <a:cs typeface="Chalkboard"/>
                <a:sym typeface="Chalkboard"/>
              </a:defRPr>
            </a:pPr>
            <a:r>
              <a:t>Detects driver drowsiness using computer vision and basic mathematics.</a:t>
            </a:r>
          </a:p>
          <a:p>
            <a:pPr marL="290763" indent="-290763" defTabSz="457200">
              <a:spcBef>
                <a:spcPts val="1200"/>
              </a:spcBef>
              <a:buSzPct val="100000"/>
              <a:buChar char="•"/>
              <a:defRPr sz="2800">
                <a:latin typeface="Chalkboard"/>
                <a:ea typeface="Chalkboard"/>
                <a:cs typeface="Chalkboard"/>
                <a:sym typeface="Chalkboard"/>
              </a:defRPr>
            </a:pPr>
            <a:r>
              <a:t>Works without wearables or expensive sensors, making it practical for real use.</a:t>
            </a:r>
          </a:p>
        </p:txBody>
      </p:sp>
      <p:sp>
        <p:nvSpPr>
          <p:cNvPr id="273" name="Provides a low-cost and non-intrusive solution for road safety.…"/>
          <p:cNvSpPr txBox="1"/>
          <p:nvPr/>
        </p:nvSpPr>
        <p:spPr>
          <a:xfrm>
            <a:off x="11914036" y="3125551"/>
            <a:ext cx="5707394" cy="2398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0710" indent="-270710" defTabSz="457200">
              <a:spcBef>
                <a:spcPts val="1200"/>
              </a:spcBef>
              <a:buSzPct val="100000"/>
              <a:buChar char="•"/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t>Provides a low-cost and non-intrusive solution for road safety.</a:t>
            </a:r>
          </a:p>
          <a:p>
            <a:pPr marL="270710" indent="-270710" defTabSz="457200">
              <a:spcBef>
                <a:spcPts val="1200"/>
              </a:spcBef>
              <a:buSzPct val="100000"/>
              <a:buChar char="•"/>
              <a:defRPr sz="2700">
                <a:latin typeface="Chalkboard"/>
                <a:ea typeface="Chalkboard"/>
                <a:cs typeface="Chalkboard"/>
                <a:sym typeface="Chalkboard"/>
              </a:defRPr>
            </a:pPr>
            <a:r>
              <a:t>Can be deployed in vehicles using hardware alerts and a supporting application.</a:t>
            </a:r>
          </a:p>
        </p:txBody>
      </p:sp>
      <p:cxnSp>
        <p:nvCxnSpPr>
          <p:cNvPr id="274" name="Connection Line"/>
          <p:cNvCxnSpPr>
            <a:stCxn id="261" idx="0"/>
            <a:endCxn id="276" idx="0"/>
          </p:cNvCxnSpPr>
          <p:nvPr/>
        </p:nvCxnSpPr>
        <p:spPr>
          <a:xfrm>
            <a:off x="2804910" y="3654495"/>
            <a:ext cx="5911635" cy="3840008"/>
          </a:xfrm>
          <a:prstGeom prst="straightConnector1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78" name="Connection Line"/>
          <p:cNvSpPr/>
          <p:nvPr/>
        </p:nvSpPr>
        <p:spPr>
          <a:xfrm>
            <a:off x="8514291" y="5786489"/>
            <a:ext cx="6173800" cy="1998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fill="norm" stroke="1" extrusionOk="0">
                <a:moveTo>
                  <a:pt x="0" y="0"/>
                </a:moveTo>
                <a:cubicBezTo>
                  <a:pt x="12883" y="21349"/>
                  <a:pt x="20083" y="21600"/>
                  <a:pt x="21600" y="752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276" name="Freeform 11"/>
          <p:cNvSpPr/>
          <p:nvPr/>
        </p:nvSpPr>
        <p:spPr>
          <a:xfrm>
            <a:off x="5896185" y="5808161"/>
            <a:ext cx="5640718" cy="3372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56" y="0"/>
                </a:moveTo>
                <a:lnTo>
                  <a:pt x="21044" y="0"/>
                </a:lnTo>
                <a:cubicBezTo>
                  <a:pt x="21191" y="0"/>
                  <a:pt x="21333" y="47"/>
                  <a:pt x="21437" y="131"/>
                </a:cubicBezTo>
                <a:cubicBezTo>
                  <a:pt x="21541" y="214"/>
                  <a:pt x="21600" y="328"/>
                  <a:pt x="21600" y="446"/>
                </a:cubicBezTo>
                <a:lnTo>
                  <a:pt x="21600" y="21154"/>
                </a:lnTo>
                <a:cubicBezTo>
                  <a:pt x="21600" y="21400"/>
                  <a:pt x="21351" y="21600"/>
                  <a:pt x="21044" y="21600"/>
                </a:cubicBezTo>
                <a:lnTo>
                  <a:pt x="556" y="21600"/>
                </a:lnTo>
                <a:cubicBezTo>
                  <a:pt x="249" y="21600"/>
                  <a:pt x="0" y="21400"/>
                  <a:pt x="0" y="21154"/>
                </a:cubicBezTo>
                <a:lnTo>
                  <a:pt x="0" y="446"/>
                </a:lnTo>
                <a:cubicBezTo>
                  <a:pt x="0" y="328"/>
                  <a:pt x="59" y="214"/>
                  <a:pt x="163" y="131"/>
                </a:cubicBezTo>
                <a:cubicBezTo>
                  <a:pt x="267" y="47"/>
                  <a:pt x="409" y="0"/>
                  <a:pt x="556" y="0"/>
                </a:cubicBezTo>
                <a:close/>
              </a:path>
            </a:pathLst>
          </a:custGeom>
          <a:solidFill>
            <a:srgbClr val="FFFFFF"/>
          </a:solidFill>
          <a:ln w="66675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Uses Euclidean distance, EAR, and MAR to measure eye closure and yawning.…"/>
          <p:cNvSpPr txBox="1"/>
          <p:nvPr/>
        </p:nvSpPr>
        <p:spPr>
          <a:xfrm>
            <a:off x="5922374" y="6041439"/>
            <a:ext cx="5588341" cy="2906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763" indent="-290763" defTabSz="457200">
              <a:spcBef>
                <a:spcPts val="1200"/>
              </a:spcBef>
              <a:buSzPct val="100000"/>
              <a:buChar char="•"/>
              <a:defRPr sz="2800">
                <a:latin typeface="Chalkboard"/>
                <a:ea typeface="Chalkboard"/>
                <a:cs typeface="Chalkboard"/>
                <a:sym typeface="Chalkboard"/>
              </a:defRPr>
            </a:pPr>
            <a:r>
              <a:t>Uses Euclidean distance, EAR, and MAR to measure eye closure and yawning.</a:t>
            </a:r>
          </a:p>
          <a:p>
            <a:pPr marL="290763" indent="-290763" defTabSz="457200">
              <a:spcBef>
                <a:spcPts val="1200"/>
              </a:spcBef>
              <a:buSzPct val="100000"/>
              <a:buChar char="•"/>
              <a:defRPr sz="2800">
                <a:latin typeface="Chalkboard"/>
                <a:ea typeface="Chalkboard"/>
                <a:cs typeface="Chalkboard"/>
                <a:sym typeface="Chalkboard"/>
              </a:defRPr>
            </a:pPr>
            <a:r>
              <a:t>Frame-based thresholds reduce false alerts and improve reliability.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Freeform 4"/>
          <p:cNvSpPr/>
          <p:nvPr/>
        </p:nvSpPr>
        <p:spPr>
          <a:xfrm>
            <a:off x="0" y="0"/>
            <a:ext cx="18287996" cy="10287001"/>
          </a:xfrm>
          <a:prstGeom prst="rect">
            <a:avLst/>
          </a:prstGeom>
          <a:solidFill>
            <a:srgbClr val="000000">
              <a:alpha val="0"/>
            </a:srgbClr>
          </a:solidFill>
          <a:ln w="657225" cap="sq">
            <a:solidFill>
              <a:srgbClr val="1E3F48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Freeform 6"/>
          <p:cNvSpPr/>
          <p:nvPr/>
        </p:nvSpPr>
        <p:spPr>
          <a:xfrm>
            <a:off x="10775654" y="5143499"/>
            <a:ext cx="9448341" cy="561675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Freeform 7"/>
          <p:cNvSpPr/>
          <p:nvPr/>
        </p:nvSpPr>
        <p:spPr>
          <a:xfrm>
            <a:off x="-1400635" y="5428243"/>
            <a:ext cx="8436359" cy="584479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Box 8"/>
          <p:cNvSpPr txBox="1"/>
          <p:nvPr/>
        </p:nvSpPr>
        <p:spPr>
          <a:xfrm>
            <a:off x="2483456" y="3953771"/>
            <a:ext cx="13321088" cy="184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700"/>
              </a:lnSpc>
              <a:defRPr sz="11200">
                <a:solidFill>
                  <a:srgbClr val="01070A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lvl1pPr>
          </a:lstStyle>
          <a:p>
            <a:pPr/>
            <a:r>
              <a:t>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